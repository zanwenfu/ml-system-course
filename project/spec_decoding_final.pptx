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59592"/>
  </p:normalViewPr>
  <p:slideViewPr>
    <p:cSldViewPr snapToGrid="0" snapToObjects="1">
      <p:cViewPr varScale="1">
        <p:scale>
          <a:sx n="98" d="100"/>
          <a:sy n="98" d="100"/>
        </p:scale>
        <p:origin x="258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Linear SD (1B/3B)</c:v>
                </c:pt>
              </c:strCache>
            </c:strRef>
          </c:tx>
          <c:spPr>
            <a:solidFill>
              <a:srgbClr val="EF4444"/>
            </a:solidFill>
            <a:effectLst/>
          </c:spPr>
          <c:invertIfNegative val="0"/>
          <c:dLbls>
            <c:numFmt formatCode="0.0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k/n=3</c:v>
                </c:pt>
                <c:pt idx="1">
                  <c:v>k/n=5</c:v>
                </c:pt>
                <c:pt idx="2">
                  <c:v>k/n=7</c:v>
                </c:pt>
                <c:pt idx="3">
                  <c:v>k/n=10</c:v>
                </c:pt>
              </c:strCache>
            </c:strRef>
          </c:cat>
          <c:val>
            <c:numRef>
              <c:f>Sheet1!$B$2:$B$5</c:f>
              <c:numCache>
                <c:formatCode>General</c:formatCode>
                <c:ptCount val="4"/>
                <c:pt idx="0">
                  <c:v>1.01</c:v>
                </c:pt>
                <c:pt idx="1">
                  <c:v>0.98</c:v>
                </c:pt>
                <c:pt idx="2">
                  <c:v>0.97</c:v>
                </c:pt>
                <c:pt idx="3">
                  <c:v>0.92</c:v>
                </c:pt>
              </c:numCache>
            </c:numRef>
          </c:val>
          <c:extLst>
            <c:ext xmlns:c16="http://schemas.microsoft.com/office/drawing/2014/chart" uri="{C3380CC4-5D6E-409C-BE32-E72D297353CC}">
              <c16:uniqueId val="{00000000-45F6-5C42-A862-A6F8A94A9060}"/>
            </c:ext>
          </c:extLst>
        </c:ser>
        <c:ser>
          <c:idx val="1"/>
          <c:order val="1"/>
          <c:tx>
            <c:strRef>
              <c:f>Sheet1!$C$1</c:f>
              <c:strCache>
                <c:ptCount val="1"/>
                <c:pt idx="0">
                  <c:v>Prompt Lookup (3B)</c:v>
                </c:pt>
              </c:strCache>
            </c:strRef>
          </c:tx>
          <c:spPr>
            <a:solidFill>
              <a:srgbClr val="10B981"/>
            </a:solidFill>
            <a:effectLst/>
          </c:spPr>
          <c:invertIfNegative val="0"/>
          <c:dLbls>
            <c:numFmt formatCode="0.0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k/n=3</c:v>
                </c:pt>
                <c:pt idx="1">
                  <c:v>k/n=5</c:v>
                </c:pt>
                <c:pt idx="2">
                  <c:v>k/n=7</c:v>
                </c:pt>
                <c:pt idx="3">
                  <c:v>k/n=10</c:v>
                </c:pt>
              </c:strCache>
            </c:strRef>
          </c:cat>
          <c:val>
            <c:numRef>
              <c:f>Sheet1!$C$2:$C$5</c:f>
              <c:numCache>
                <c:formatCode>General</c:formatCode>
                <c:ptCount val="4"/>
                <c:pt idx="0">
                  <c:v>1.28</c:v>
                </c:pt>
                <c:pt idx="1">
                  <c:v>1.32</c:v>
                </c:pt>
                <c:pt idx="2">
                  <c:v>1.35</c:v>
                </c:pt>
                <c:pt idx="3">
                  <c:v>1.39</c:v>
                </c:pt>
              </c:numCache>
            </c:numRef>
          </c:val>
          <c:extLst>
            <c:ext xmlns:c16="http://schemas.microsoft.com/office/drawing/2014/chart" uri="{C3380CC4-5D6E-409C-BE32-E72D297353CC}">
              <c16:uniqueId val="{00000001-45F6-5C42-A862-A6F8A94A906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max val="1.6"/>
          <c:min val="0.5"/>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1B/3B (k=5)</c:v>
                </c:pt>
              </c:strCache>
            </c:strRef>
          </c:tx>
          <c:spPr>
            <a:solidFill>
              <a:srgbClr val="0891B2"/>
            </a:solidFill>
            <a:effectLst/>
          </c:spPr>
          <c:invertIfNegative val="0"/>
          <c:dLbls>
            <c:numFmt formatCode="0.0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Greedy (T=0)</c:v>
                </c:pt>
                <c:pt idx="1">
                  <c:v>T=0.6</c:v>
                </c:pt>
                <c:pt idx="2">
                  <c:v>T=0.8</c:v>
                </c:pt>
              </c:strCache>
            </c:strRef>
          </c:cat>
          <c:val>
            <c:numRef>
              <c:f>Sheet1!$B$2:$B$4</c:f>
              <c:numCache>
                <c:formatCode>General</c:formatCode>
                <c:ptCount val="3"/>
                <c:pt idx="0">
                  <c:v>0.98</c:v>
                </c:pt>
                <c:pt idx="1">
                  <c:v>0.77</c:v>
                </c:pt>
                <c:pt idx="2">
                  <c:v>0.83</c:v>
                </c:pt>
              </c:numCache>
            </c:numRef>
          </c:val>
          <c:extLst>
            <c:ext xmlns:c16="http://schemas.microsoft.com/office/drawing/2014/chart" uri="{C3380CC4-5D6E-409C-BE32-E72D297353CC}">
              <c16:uniqueId val="{00000000-4F1F-CC44-A11E-355687587D3A}"/>
            </c:ext>
          </c:extLst>
        </c:ser>
        <c:ser>
          <c:idx val="1"/>
          <c:order val="1"/>
          <c:tx>
            <c:strRef>
              <c:f>Sheet1!$C$1</c:f>
              <c:strCache>
                <c:ptCount val="1"/>
                <c:pt idx="0">
                  <c:v>1B/8B-4bit (k=5)</c:v>
                </c:pt>
              </c:strCache>
            </c:strRef>
          </c:tx>
          <c:spPr>
            <a:solidFill>
              <a:srgbClr val="F59E0B"/>
            </a:solidFill>
            <a:effectLst/>
          </c:spPr>
          <c:invertIfNegative val="0"/>
          <c:dLbls>
            <c:numFmt formatCode="0.00" sourceLinked="0"/>
            <c:spPr>
              <a:noFill/>
              <a:ln>
                <a:noFill/>
              </a:ln>
              <a:effectLst/>
            </c:spPr>
            <c:txPr>
              <a:bodyPr/>
              <a:lstStyle/>
              <a:p>
                <a:pPr>
                  <a:defRPr sz="10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Greedy (T=0)</c:v>
                </c:pt>
                <c:pt idx="1">
                  <c:v>T=0.6</c:v>
                </c:pt>
                <c:pt idx="2">
                  <c:v>T=0.8</c:v>
                </c:pt>
              </c:strCache>
            </c:strRef>
          </c:cat>
          <c:val>
            <c:numRef>
              <c:f>Sheet1!$C$2:$C$4</c:f>
              <c:numCache>
                <c:formatCode>General</c:formatCode>
                <c:ptCount val="3"/>
                <c:pt idx="0">
                  <c:v>0.94</c:v>
                </c:pt>
                <c:pt idx="1">
                  <c:v>0.72</c:v>
                </c:pt>
                <c:pt idx="2">
                  <c:v>0.78</c:v>
                </c:pt>
              </c:numCache>
            </c:numRef>
          </c:val>
          <c:extLst>
            <c:ext xmlns:c16="http://schemas.microsoft.com/office/drawing/2014/chart" uri="{C3380CC4-5D6E-409C-BE32-E72D297353CC}">
              <c16:uniqueId val="{00000001-4F1F-CC44-A11E-355687587D3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max val="1.2"/>
          <c:min val="0.4"/>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9561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"Speculative decoding promises two to three X speedups in LLM inference. In my experiments, it actually produced an 8% </a:t>
            </a:r>
            <a:r>
              <a:rPr lang="en-US" i="1" dirty="0"/>
              <a:t>slowdown</a:t>
            </a:r>
            <a:r>
              <a:rPr lang="en-US" dirty="0"/>
              <a:t>. This talk is about figuring out </a:t>
            </a:r>
            <a:r>
              <a:rPr lang="en-US" i="1" dirty="0"/>
              <a:t>why</a:t>
            </a:r>
            <a:r>
              <a:rPr lang="en-US" dirty="0"/>
              <a:t> — what system-level factors determine when speculative decoding helps, and when it hurts.”</a:t>
            </a:r>
          </a:p>
          <a:p>
            <a:endParaRPr lang="en-US" dirty="0"/>
          </a:p>
          <a:p>
            <a:r>
              <a:rPr lang="en-US" b="1" dirty="0"/>
              <a:t>[Self-note: Pause after "slowdown" — let it land. Make eye contact. This is the tension that carries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quick context on the problem. LLMs generate text </a:t>
            </a:r>
            <a:r>
              <a:rPr lang="en-US" i="1" dirty="0"/>
              <a:t>autoregressively</a:t>
            </a:r>
            <a:r>
              <a:rPr lang="en-US" dirty="0"/>
              <a:t> — one token at a time, each one conditioned on everything before it. Every single token requires a full forward pass through the entire model. And on hardware like the T4 I'm using — which is </a:t>
            </a:r>
            <a:r>
              <a:rPr lang="en-US" i="1" dirty="0"/>
              <a:t>memory-bandwidth-bound</a:t>
            </a:r>
            <a:r>
              <a:rPr lang="en-US" dirty="0"/>
              <a:t> — the GPU is sitting mostly idle during each of these passes. You're moving weights from memory to compute, and compute finishes before memory can feed the next batch. The GPU is underutilized.”</a:t>
            </a:r>
          </a:p>
          <a:p>
            <a:endParaRPr lang="en-US" dirty="0"/>
          </a:p>
          <a:p>
            <a:r>
              <a:rPr lang="en-US" i="1" dirty="0"/>
              <a:t>[gesture to the right panel]</a:t>
            </a:r>
          </a:p>
          <a:p>
            <a:endParaRPr lang="en-US" dirty="0"/>
          </a:p>
          <a:p>
            <a:r>
              <a:rPr lang="en-US" dirty="0"/>
              <a:t>"Speculative decoding breaks this bottleneck with a simple insight: </a:t>
            </a:r>
            <a:r>
              <a:rPr lang="en-US" i="1" dirty="0"/>
              <a:t>verification is parallelizable even though generation isn't.</a:t>
            </a:r>
            <a:r>
              <a:rPr lang="en-US" dirty="0"/>
              <a:t> You have something cheap — we'll call it the 'drafter' — generate a batch of candidate tokens. Then the expensive target model checks all of them </a:t>
            </a:r>
            <a:r>
              <a:rPr lang="en-US" i="1" dirty="0"/>
              <a:t>in a single forward pass</a:t>
            </a:r>
            <a:r>
              <a:rPr lang="en-US" dirty="0"/>
              <a:t>. If the drafter guessed right, you just got multiple tokens for the cost of one target call. And crucially — this is </a:t>
            </a:r>
            <a:r>
              <a:rPr lang="en-US" i="1" dirty="0"/>
              <a:t>mathematically exact</a:t>
            </a:r>
            <a:r>
              <a:rPr lang="en-US" dirty="0"/>
              <a:t>. It's not an approximation. The output distribution is preserved through a rejection sampling scheme.”</a:t>
            </a:r>
          </a:p>
          <a:p>
            <a:endParaRPr lang="en-US" dirty="0"/>
          </a:p>
          <a:p>
            <a:r>
              <a:rPr lang="en-US" dirty="0"/>
              <a:t>"So the key design question is: </a:t>
            </a:r>
            <a:r>
              <a:rPr lang="en-US" i="1" dirty="0"/>
              <a:t>how do you generate those candidates cheaply?</a:t>
            </a:r>
            <a:r>
              <a:rPr lang="en-US" dirty="0"/>
              <a:t> And that's where three fundamentally different approaches emerge.”</a:t>
            </a:r>
          </a:p>
          <a:p>
            <a:endParaRPr lang="en-US" dirty="0"/>
          </a:p>
          <a:p>
            <a:r>
              <a:rPr lang="en-US" b="1" dirty="0"/>
              <a:t>[Self-note: The key conceptual point is WHY verification can be parallelized — because checking "is token 3 correct given tokens 1-2" and "is token 4 correct given tokens 1-3" can be done simultaneously in one forward pass using causal masking. The target model processes the whole draft sequence at once, and each position's attention is masked to only see prior positions — same as during training. So it's like running k verifications in parallel for the cost of ~1 forward pass.]</a:t>
            </a:r>
          </a:p>
          <a:p>
            <a:endParaRPr lang="en-US" dirty="0"/>
          </a:p>
          <a:p>
            <a:r>
              <a:rPr lang="en-US" b="1" dirty="0"/>
              <a:t>[Self-note: "Exact" means the acceptance/rejection sampling ensures that the final token distribution is identical to what you'd get from pure autoregressive decoding. If the drafter's token matches the target's distribution, accept. If not, reject and resample from an adjusted distribution. This is Leviathan et al. 2023's key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organize speculative decoding into three families, based on </a:t>
            </a:r>
            <a:r>
              <a:rPr lang="en-US" i="1" dirty="0"/>
              <a:t>where they spend system resources</a:t>
            </a:r>
            <a:r>
              <a:rPr lang="en-US" dirty="0"/>
              <a:t>.”</a:t>
            </a:r>
          </a:p>
          <a:p>
            <a:endParaRPr lang="en-US" dirty="0"/>
          </a:p>
          <a:p>
            <a:r>
              <a:rPr lang="en-US" i="1" dirty="0"/>
              <a:t>[point to left card]</a:t>
            </a:r>
          </a:p>
          <a:p>
            <a:endParaRPr lang="en-US" dirty="0"/>
          </a:p>
          <a:p>
            <a:r>
              <a:rPr lang="en-US" dirty="0"/>
              <a:t>"First — </a:t>
            </a:r>
            <a:r>
              <a:rPr lang="en-US" b="1" dirty="0"/>
              <a:t>Linear Draft-Verify</a:t>
            </a:r>
            <a:r>
              <a:rPr lang="en-US" dirty="0"/>
              <a:t>. A small language model drafts k tokens sequentially, then the target verifies them in one pass. Your overhead is </a:t>
            </a:r>
            <a:r>
              <a:rPr lang="en-US" i="1" dirty="0"/>
              <a:t>GPU compute and memory</a:t>
            </a:r>
            <a:r>
              <a:rPr lang="en-US" dirty="0"/>
              <a:t> — you need to load a second model, run k sequential forward passes through it, and maintain a separate KV-cache. When a token is rejected, you truncate the target's KV-cache back to the last accepted position — what I'll call </a:t>
            </a:r>
            <a:r>
              <a:rPr lang="en-US" i="1" dirty="0"/>
              <a:t>KV-cache rewind</a:t>
            </a:r>
            <a:r>
              <a:rPr lang="en-US" dirty="0"/>
              <a:t> — and throw away everything after.”</a:t>
            </a:r>
          </a:p>
          <a:p>
            <a:endParaRPr lang="en-US" dirty="0"/>
          </a:p>
          <a:p>
            <a:r>
              <a:rPr lang="en-US" i="1" dirty="0"/>
              <a:t>[point to middle card]</a:t>
            </a:r>
          </a:p>
          <a:p>
            <a:endParaRPr lang="en-US" dirty="0"/>
          </a:p>
          <a:p>
            <a:r>
              <a:rPr lang="en-US" dirty="0"/>
              <a:t>"Second — </a:t>
            </a:r>
            <a:r>
              <a:rPr lang="en-US" b="1" dirty="0"/>
              <a:t>Tree-Structured methods</a:t>
            </a:r>
            <a:r>
              <a:rPr lang="en-US" dirty="0"/>
              <a:t> like </a:t>
            </a:r>
            <a:r>
              <a:rPr lang="en-US" dirty="0" err="1"/>
              <a:t>SpecInfer</a:t>
            </a:r>
            <a:r>
              <a:rPr lang="en-US" dirty="0"/>
              <a:t> and Sequoia. Instead of drafting a </a:t>
            </a:r>
            <a:r>
              <a:rPr lang="en-US" i="1" dirty="0"/>
              <a:t>single chain</a:t>
            </a:r>
            <a:r>
              <a:rPr lang="en-US" dirty="0"/>
              <a:t> of k tokens, you draft a </a:t>
            </a:r>
            <a:r>
              <a:rPr lang="en-US" i="1" dirty="0"/>
              <a:t>tree</a:t>
            </a:r>
            <a:r>
              <a:rPr lang="en-US" dirty="0"/>
              <a:t> — multiple candidate paths branching out simultaneously. The target verifies the entire tree in one forward pass using a </a:t>
            </a:r>
            <a:r>
              <a:rPr lang="en-US" i="1" dirty="0"/>
              <a:t>tree attention mask</a:t>
            </a:r>
            <a:r>
              <a:rPr lang="en-US" dirty="0"/>
              <a:t>. The upside: more coverage, more chances to find good continuations. The downside: your KV-cache now stores entries for every node in the tree — not just a linear chain. And when you reject branches, you need </a:t>
            </a:r>
            <a:r>
              <a:rPr lang="en-US" i="1" dirty="0"/>
              <a:t>selective pruning</a:t>
            </a:r>
            <a:r>
              <a:rPr lang="en-US" dirty="0"/>
              <a:t>, not simple truncation. Sequoia adds a dynamic programming algorithm that optimizes the tree topology for a given hardware profile.”</a:t>
            </a:r>
          </a:p>
          <a:p>
            <a:endParaRPr lang="en-US" dirty="0"/>
          </a:p>
          <a:p>
            <a:r>
              <a:rPr lang="en-US" i="1" dirty="0"/>
              <a:t>[point to right card]</a:t>
            </a:r>
          </a:p>
          <a:p>
            <a:endParaRPr lang="en-US" dirty="0"/>
          </a:p>
          <a:p>
            <a:r>
              <a:rPr lang="en-US" dirty="0"/>
              <a:t>"Third — </a:t>
            </a:r>
            <a:r>
              <a:rPr lang="en-US" b="1" dirty="0"/>
              <a:t>Retrieval-Based methods</a:t>
            </a:r>
            <a:r>
              <a:rPr lang="en-US" dirty="0"/>
              <a:t> like Prompt Lookup Decoding. No draft model at all. Instead, you look for n-gram matches between what you've generated so far and the </a:t>
            </a:r>
            <a:r>
              <a:rPr lang="en-US" i="1" dirty="0"/>
              <a:t>input prompt</a:t>
            </a:r>
            <a:r>
              <a:rPr lang="en-US" dirty="0"/>
              <a:t>. If the output starts repeating patterns from the prompt — which happens a lot in summarization, RAG, and code completion — you just copy those tokens as candidates. Your overhead is purely </a:t>
            </a:r>
            <a:r>
              <a:rPr lang="en-US" i="1" dirty="0"/>
              <a:t>CPU</a:t>
            </a:r>
            <a:r>
              <a:rPr lang="en-US" dirty="0"/>
              <a:t> — pattern matching in strings. Zero extra GPU memory, zero extra GPU compute.”</a:t>
            </a:r>
          </a:p>
          <a:p>
            <a:endParaRPr lang="en-US" dirty="0"/>
          </a:p>
          <a:p>
            <a:r>
              <a:rPr lang="en-US" i="1" dirty="0"/>
              <a:t>[point to the bottom banner]</a:t>
            </a:r>
          </a:p>
          <a:p>
            <a:endParaRPr lang="en-US" dirty="0"/>
          </a:p>
          <a:p>
            <a:r>
              <a:rPr lang="en-US" dirty="0"/>
              <a:t>"Now — and this is important — prior work evaluates each of these families in isolation, on different hardware, with different measurement methodology. This study is, to my knowledge, the first to compare all three under a </a:t>
            </a:r>
            <a:r>
              <a:rPr lang="en-US" i="1" dirty="0"/>
              <a:t>unified cost model</a:t>
            </a:r>
            <a:r>
              <a:rPr lang="en-US" dirty="0"/>
              <a:t>, on the </a:t>
            </a:r>
            <a:r>
              <a:rPr lang="en-US" i="1" dirty="0"/>
              <a:t>same GPU</a:t>
            </a:r>
            <a:r>
              <a:rPr lang="en-US" dirty="0"/>
              <a:t>, with </a:t>
            </a:r>
            <a:r>
              <a:rPr lang="en-US" i="1" dirty="0"/>
              <a:t>identical measurement methodology</a:t>
            </a:r>
            <a:r>
              <a:rPr lang="en-US" dirty="0"/>
              <a:t>.”</a:t>
            </a:r>
          </a:p>
          <a:p>
            <a:endParaRPr lang="en-US" dirty="0"/>
          </a:p>
          <a:p>
            <a:r>
              <a:rPr lang="en-US" b="1" dirty="0"/>
              <a:t>[Self-note on tree attention mask: In a normal causal mask, token </a:t>
            </a:r>
            <a:r>
              <a:rPr lang="en-US" b="1" dirty="0" err="1"/>
              <a:t>i</a:t>
            </a:r>
            <a:r>
              <a:rPr lang="en-US" b="1" dirty="0"/>
              <a:t> attends to tokens 0..i. In tree attention, token at tree node j attends only to its </a:t>
            </a:r>
            <a:r>
              <a:rPr lang="en-US" b="1" i="1" dirty="0"/>
              <a:t>ancestors</a:t>
            </a:r>
            <a:r>
              <a:rPr lang="en-US" b="1" dirty="0"/>
              <a:t> in the tree, not all prior tokens. This lets the target process all tree paths simultaneously without interference. Each path sees only its own ancestral context.]</a:t>
            </a:r>
          </a:p>
          <a:p>
            <a:endParaRPr lang="en-US" dirty="0"/>
          </a:p>
          <a:p>
            <a:r>
              <a:rPr lang="en-US" b="1" dirty="0"/>
              <a:t>[Self-note on Sequoia's DP algorithm: Given a "budget" of n total tree nodes, the DP finds the tree shape (branching factor at each depth) that maximizes expected accepted tokens. The key input is the draft model's acceptance rate at each depth — shallower nodes have higher acceptance. The optimal tree is wider at shallow depths and narrower at deep depths. Sequoia also has a "hardware-aware" version that factors in the target GPU's compute-to-bandwidth ratio.]</a:t>
            </a:r>
          </a:p>
          <a:p>
            <a:endParaRPr lang="en-US" dirty="0"/>
          </a:p>
          <a:p>
            <a:r>
              <a:rPr lang="en-US" b="1" dirty="0"/>
              <a:t>[Self-note on PLD — why it works: If your prompt says "The quarterly revenue was $5.2M" and the model is generating a summary, it might produce "The quarterly revenue was..." — those tokens are already IN the prompt. PLD just matches the suffix of what you've generated against the prompt text, finds the match, and copies the continuation. Zero cost, and it works amazingly well for any task with input-output overlap.]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[RYAN'S NOTE: Don't read the math. Point to the variables. S = Speedup, a = Acceptance rate, Cd = Draft Cost, Ct = Target Cost, </a:t>
            </a:r>
            <a:r>
              <a:rPr lang="en-US" dirty="0" err="1"/>
              <a:t>Csys</a:t>
            </a:r>
            <a:r>
              <a:rPr lang="en-US" dirty="0"/>
              <a:t> = System overhead tax]</a:t>
            </a:r>
          </a:p>
          <a:p>
            <a:endParaRPr lang="en-US" dirty="0"/>
          </a:p>
          <a:p>
            <a:r>
              <a:rPr lang="en-US" dirty="0"/>
              <a:t>"Here's the core analytical framework. Three equations — one for each family — all in the same notation, so we can see exactly where they differ.”</a:t>
            </a:r>
          </a:p>
          <a:p>
            <a:endParaRPr lang="en-US" dirty="0"/>
          </a:p>
          <a:p>
            <a:r>
              <a:rPr lang="en-US" i="1" dirty="0"/>
              <a:t>[point to the Linear equation]</a:t>
            </a:r>
          </a:p>
          <a:p>
            <a:endParaRPr lang="en-US" dirty="0"/>
          </a:p>
          <a:p>
            <a:r>
              <a:rPr lang="en-US" dirty="0"/>
              <a:t>"For Linear: speedup equals alpha-k times Ct, divided by k times Cd plus Ct plus </a:t>
            </a:r>
            <a:r>
              <a:rPr lang="en-US" dirty="0" err="1"/>
              <a:t>Csys</a:t>
            </a:r>
            <a:r>
              <a:rPr lang="en-US" dirty="0"/>
              <a:t>. Alpha is the acceptance rate — fraction of drafted tokens the target accepts. k is how many tokens you draft. Ct is cost of one target forward pass. Cd is cost of one draft forward pass. </a:t>
            </a:r>
            <a:r>
              <a:rPr lang="en-US" dirty="0" err="1"/>
              <a:t>Csys</a:t>
            </a:r>
            <a:r>
              <a:rPr lang="en-US" dirty="0"/>
              <a:t> is system overhead — KV-cache rewind, synchronization, scheduling. The </a:t>
            </a:r>
            <a:r>
              <a:rPr lang="en-US" b="1" dirty="0"/>
              <a:t>bottleneck is Cd</a:t>
            </a:r>
            <a:r>
              <a:rPr lang="en-US" dirty="0"/>
              <a:t> — the draft model's GPU cost. Everything hinges on the ratio Cd over Ct. If the draft is too expensive relative to the target, you spend more time drafting than you save on verification.”</a:t>
            </a:r>
          </a:p>
          <a:p>
            <a:endParaRPr lang="en-US" dirty="0"/>
          </a:p>
          <a:p>
            <a:r>
              <a:rPr lang="en-US" i="1" dirty="0"/>
              <a:t>[point to the Tree equation]</a:t>
            </a:r>
          </a:p>
          <a:p>
            <a:endParaRPr lang="en-US" dirty="0"/>
          </a:p>
          <a:p>
            <a:r>
              <a:rPr lang="en-US" dirty="0"/>
              <a:t>"For Tree: now the verification cost itself </a:t>
            </a:r>
            <a:r>
              <a:rPr lang="en-US" i="1" dirty="0"/>
              <a:t>grows with tree size n</a:t>
            </a:r>
            <a:r>
              <a:rPr lang="en-US" dirty="0"/>
              <a:t>. You're not just verifying a chain — you're verifying a whole tree. So there are diminishing returns: at some hardware-specific optimal tree size, adding more nodes costs more in verification than it gains in accepted tokens. The </a:t>
            </a:r>
            <a:r>
              <a:rPr lang="en-US" b="1" dirty="0"/>
              <a:t>bottleneck shifts to </a:t>
            </a:r>
            <a:r>
              <a:rPr lang="en-US" b="1" dirty="0" err="1"/>
              <a:t>Ct_tree</a:t>
            </a:r>
            <a:r>
              <a:rPr lang="en-US" b="1" dirty="0"/>
              <a:t>(n)</a:t>
            </a:r>
            <a:r>
              <a:rPr lang="en-US" dirty="0"/>
              <a:t> — target verification cost that scales with tree size.”</a:t>
            </a:r>
          </a:p>
          <a:p>
            <a:endParaRPr lang="en-US" dirty="0"/>
          </a:p>
          <a:p>
            <a:r>
              <a:rPr lang="en-US" i="1" dirty="0"/>
              <a:t>[point to the Retrieval equation]</a:t>
            </a:r>
          </a:p>
          <a:p>
            <a:endParaRPr lang="en-US" dirty="0"/>
          </a:p>
          <a:p>
            <a:r>
              <a:rPr lang="en-US" dirty="0"/>
              <a:t>"For Retrieval: Cd disappears entirely. It's replaced by Cr — the CPU cost of n-gram matching. And Cr is essentially zero on the GPU side. The </a:t>
            </a:r>
            <a:r>
              <a:rPr lang="en-US" b="1" dirty="0"/>
              <a:t>bottleneck becomes the acceptance rate</a:t>
            </a:r>
            <a:r>
              <a:rPr lang="en-US" dirty="0"/>
              <a:t> — which is domain-dependent, not model-dependent. If your output overlaps with your input, Cr pays nothing and you get big speedups. If not, the candidates just get rejected, but you still paid almost nothing to generate them.”</a:t>
            </a:r>
          </a:p>
          <a:p>
            <a:endParaRPr lang="en-US" dirty="0"/>
          </a:p>
          <a:p>
            <a:r>
              <a:rPr lang="en-US" i="1" dirty="0"/>
              <a:t>[point to bottom attribution]</a:t>
            </a:r>
          </a:p>
          <a:p>
            <a:endParaRPr lang="en-US" dirty="0"/>
          </a:p>
          <a:p>
            <a:r>
              <a:rPr lang="en-US" dirty="0"/>
              <a:t>"The individual equations adapt from Leviathan and the Sequoia paper. But the unified notation — putting them side-by-side to expose where each family's overhead term sits — the </a:t>
            </a:r>
            <a:r>
              <a:rPr lang="en-US" dirty="0" err="1"/>
              <a:t>Csys</a:t>
            </a:r>
            <a:r>
              <a:rPr lang="en-US" dirty="0"/>
              <a:t> analysis, and the empirical validation of these equations against real measurements — that's my contribution.”</a:t>
            </a:r>
          </a:p>
          <a:p>
            <a:endParaRPr lang="en-US" dirty="0"/>
          </a:p>
          <a:p>
            <a:r>
              <a:rPr lang="en-US" b="1" dirty="0"/>
              <a:t>[Self-note — deriving the linear equation from scratch if asked: In one speculative iteration, you pay </a:t>
            </a:r>
            <a:r>
              <a:rPr lang="en-US" b="1" dirty="0" err="1"/>
              <a:t>kCd</a:t>
            </a:r>
            <a:r>
              <a:rPr lang="en-US" b="1" dirty="0"/>
              <a:t> for drafting (k sequential draft passes) plus Ct for one target verification pass. You get </a:t>
            </a:r>
            <a:r>
              <a:rPr lang="el-GR" b="1" dirty="0"/>
              <a:t>α</a:t>
            </a:r>
            <a:r>
              <a:rPr lang="en-US" b="1" dirty="0"/>
              <a:t>k accepted tokens on average. Without speculation, those </a:t>
            </a:r>
            <a:r>
              <a:rPr lang="el-GR" b="1" dirty="0"/>
              <a:t>α</a:t>
            </a:r>
            <a:r>
              <a:rPr lang="en-US" b="1" dirty="0"/>
              <a:t>k tokens would cost </a:t>
            </a:r>
            <a:r>
              <a:rPr lang="el-GR" b="1" dirty="0"/>
              <a:t>α</a:t>
            </a:r>
            <a:r>
              <a:rPr lang="en-US" b="1" dirty="0"/>
              <a:t>k × Ct. So speedup = (</a:t>
            </a:r>
            <a:r>
              <a:rPr lang="el-GR" b="1" dirty="0"/>
              <a:t>α</a:t>
            </a:r>
            <a:r>
              <a:rPr lang="en-US" b="1" dirty="0"/>
              <a:t>k × Ct) / (</a:t>
            </a:r>
            <a:r>
              <a:rPr lang="en-US" b="1" dirty="0" err="1"/>
              <a:t>kCd</a:t>
            </a:r>
            <a:r>
              <a:rPr lang="en-US" b="1" dirty="0"/>
              <a:t> + Ct). Add </a:t>
            </a:r>
            <a:r>
              <a:rPr lang="en-US" b="1" dirty="0" err="1"/>
              <a:t>Csys</a:t>
            </a:r>
            <a:r>
              <a:rPr lang="en-US" b="1" dirty="0"/>
              <a:t> for system overhead → denominator becomes </a:t>
            </a:r>
            <a:r>
              <a:rPr lang="en-US" b="1" dirty="0" err="1"/>
              <a:t>kCd</a:t>
            </a:r>
            <a:r>
              <a:rPr lang="en-US" b="1" dirty="0"/>
              <a:t> + Ct + </a:t>
            </a:r>
            <a:r>
              <a:rPr lang="en-US" b="1" dirty="0" err="1"/>
              <a:t>Csys</a:t>
            </a:r>
            <a:r>
              <a:rPr lang="en-US" b="1" dirty="0"/>
              <a:t>. That's Equation 2.]</a:t>
            </a:r>
          </a:p>
          <a:p>
            <a:endParaRPr lang="en-US" dirty="0"/>
          </a:p>
          <a:p>
            <a:r>
              <a:rPr lang="en-US" b="1" dirty="0"/>
              <a:t>[Self-note — why </a:t>
            </a:r>
            <a:r>
              <a:rPr lang="en-US" b="1" dirty="0" err="1"/>
              <a:t>Csys</a:t>
            </a:r>
            <a:r>
              <a:rPr lang="en-US" b="1" dirty="0"/>
              <a:t> matters conceptually: </a:t>
            </a:r>
            <a:r>
              <a:rPr lang="en-US" b="1" dirty="0" err="1"/>
              <a:t>Csys</a:t>
            </a:r>
            <a:r>
              <a:rPr lang="en-US" b="1" dirty="0"/>
              <a:t> includes KV-cache rewind (discarding cache entries for rejected tokens), CUDA synchronization points between draft and target stages, and framework scheduling overhead. My profiler results later show </a:t>
            </a:r>
            <a:r>
              <a:rPr lang="en-US" b="1" dirty="0" err="1"/>
              <a:t>Csys</a:t>
            </a:r>
            <a:r>
              <a:rPr lang="en-US" b="1" dirty="0"/>
              <a:t> ≈ 0.1 </a:t>
            </a:r>
            <a:r>
              <a:rPr lang="en-US" b="1" dirty="0" err="1"/>
              <a:t>ms</a:t>
            </a:r>
            <a:r>
              <a:rPr lang="en-US" b="1" dirty="0"/>
              <a:t>/iter — negligible. This was surprising and is itself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setup slide. T4 GPU — 16 gigs of VRAM, about 300 gigabytes per second memory bandwidth.  T4 is the perfect “stress test” for Speculative decoding to see how much it could solve the </a:t>
            </a:r>
            <a:r>
              <a:rPr lang="en-US" b="1" dirty="0"/>
              <a:t>memory-bandwidth bottleneck</a:t>
            </a:r>
            <a:r>
              <a:rPr lang="en-US" dirty="0"/>
              <a:t>.  I used the Llama 3.2 family — 3B target, 1B draft — to keep tokenizer consistency across experiments. Also tested the 1B draft against an 8B target in 4-bit quantization, to isolate the effect of quantization on cost ratio.” </a:t>
            </a:r>
          </a:p>
          <a:p>
            <a:endParaRPr lang="en-US" dirty="0"/>
          </a:p>
          <a:p>
            <a:r>
              <a:rPr lang="en-US" dirty="0"/>
              <a:t>"On methodology: 30 timed trials per configuration, 3 warmup runs, explicit CUDA synchronization — meaning I call </a:t>
            </a:r>
            <a:r>
              <a:rPr lang="en-US" dirty="0" err="1"/>
              <a:t>torch.cuda.synchronize</a:t>
            </a:r>
            <a:r>
              <a:rPr lang="en-US" dirty="0"/>
              <a:t>() before every timing measurement so I'm not just measuring kernel launch latency. 10 prompts across 5 categories.”</a:t>
            </a:r>
          </a:p>
          <a:p>
            <a:endParaRPr lang="en-US" dirty="0"/>
          </a:p>
          <a:p>
            <a:r>
              <a:rPr lang="en-US" dirty="0"/>
              <a:t>"Two things in the 'Engineering Rigor' column I want to flag. First: I wrote a </a:t>
            </a:r>
            <a:r>
              <a:rPr lang="en-US" i="1" dirty="0"/>
              <a:t>custom</a:t>
            </a:r>
            <a:r>
              <a:rPr lang="en-US" dirty="0"/>
              <a:t> speculative decoding loop — separate from </a:t>
            </a:r>
            <a:r>
              <a:rPr lang="en-US" dirty="0" err="1"/>
              <a:t>HuggingFace's</a:t>
            </a:r>
            <a:r>
              <a:rPr lang="en-US" dirty="0"/>
              <a:t> API — specifically to measure acceptance rate per iteration. That's what enables the theory-versus-practice analysis on the next slides. Second: about 10 attempts to port Sequoia's tree-structured implementation to T4, with source-level patches to its </a:t>
            </a:r>
            <a:r>
              <a:rPr lang="en-US" dirty="0" err="1"/>
              <a:t>PyTorch</a:t>
            </a:r>
            <a:r>
              <a:rPr lang="en-US" dirty="0"/>
              <a:t> code. I'll come back to that. Let's look at results.”</a:t>
            </a:r>
          </a:p>
          <a:p>
            <a:endParaRPr lang="en-US" dirty="0"/>
          </a:p>
          <a:p>
            <a:r>
              <a:rPr lang="en-US" b="1" dirty="0"/>
              <a:t>[Self-note: If asked "why Llama 3.2 family specifically?" — tokenizer consistency. If the draft and target use different tokenizers, tokens don't align and acceptance rate becomes meaningless. Llama 3.2 1B and 3B share the same tokenizer. The 8B is Llama 3.1, which also shares the same tokenizer family.]</a:t>
            </a:r>
          </a:p>
          <a:p>
            <a:endParaRPr lang="en-US" dirty="0"/>
          </a:p>
          <a:p>
            <a:r>
              <a:rPr lang="en-US" b="1" dirty="0"/>
              <a:t>[Self-note: "Explicit CUDA synchronization" — without </a:t>
            </a:r>
            <a:r>
              <a:rPr lang="en-US" b="1" dirty="0" err="1"/>
              <a:t>torch.cuda.synchronize</a:t>
            </a:r>
            <a:r>
              <a:rPr lang="en-US" b="1" dirty="0"/>
              <a:t>(), Python measures only the time to LAUNCH GPU kernels (microseconds), not the time for them to FINISH (milliseconds). This is a common benchmarking mistake. I avoided it.]</a:t>
            </a:r>
          </a:p>
          <a:p>
            <a:endParaRPr lang="en-US" dirty="0"/>
          </a:p>
          <a:p>
            <a:r>
              <a:rPr lang="en-US" b="1" dirty="0"/>
              <a:t>[Self-note: I also set </a:t>
            </a:r>
            <a:r>
              <a:rPr lang="en-US" b="1" dirty="0" err="1"/>
              <a:t>num_assistant_tokens_schedule</a:t>
            </a:r>
            <a:r>
              <a:rPr lang="en-US" b="1" dirty="0"/>
              <a:t>="constant" to fix k and prevent </a:t>
            </a:r>
            <a:r>
              <a:rPr lang="en-US" b="1" dirty="0" err="1"/>
              <a:t>HuggingFace</a:t>
            </a:r>
            <a:r>
              <a:rPr lang="en-US" b="1" dirty="0"/>
              <a:t> from adaptively changing the speculation length based on acceptance history — which would be a confound.]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central result. Red bars are linear speculative decoding with the 1B draft against the 3B target. Green bars are prompt lookup decoding with the same 3B target.”</a:t>
            </a:r>
          </a:p>
          <a:p>
            <a:endParaRPr lang="en-US" dirty="0"/>
          </a:p>
          <a:p>
            <a:r>
              <a:rPr lang="en-US" dirty="0"/>
              <a:t>"Linear SD is a net </a:t>
            </a:r>
            <a:r>
              <a:rPr lang="en-US" i="1" dirty="0"/>
              <a:t>slowdown</a:t>
            </a:r>
            <a:r>
              <a:rPr lang="en-US" dirty="0"/>
              <a:t> at every single speculation length — and it gets worse as k increases. At k=10, you're 8% slower than just running the target model alone. Meanwhile, prompt lookup decoding achieves consistent speedups — 1.28X at n=3, rising monotonically to 1.39X at n=10. And this is with essentially </a:t>
            </a:r>
            <a:r>
              <a:rPr lang="en-US" i="1" dirty="0"/>
              <a:t>zero</a:t>
            </a:r>
            <a:r>
              <a:rPr lang="en-US" dirty="0"/>
              <a:t> additional GPU memory — 8,945 megabytes versus the 8,940 baseline.”</a:t>
            </a:r>
          </a:p>
          <a:p>
            <a:endParaRPr lang="en-US" dirty="0"/>
          </a:p>
          <a:p>
            <a:r>
              <a:rPr lang="en-US" dirty="0"/>
              <a:t>"Now, the critical number that explains the linear SD failure: the measured cost ratio Cd/Ct = 0.596. The 1B draft model costs </a:t>
            </a:r>
            <a:r>
              <a:rPr lang="en-US" i="1" dirty="0"/>
              <a:t>60 percent</a:t>
            </a:r>
            <a:r>
              <a:rPr lang="en-US" dirty="0"/>
              <a:t> as much as the 3B target per token. That's nearly </a:t>
            </a:r>
            <a:r>
              <a:rPr lang="en-US" i="1" dirty="0"/>
              <a:t>double</a:t>
            </a:r>
            <a:r>
              <a:rPr lang="en-US" dirty="0"/>
              <a:t> what the parameter ratio of 0.333 would predict.”</a:t>
            </a:r>
          </a:p>
          <a:p>
            <a:endParaRPr lang="en-US" dirty="0"/>
          </a:p>
          <a:p>
            <a:r>
              <a:rPr lang="en-US" i="1" dirty="0"/>
              <a:t>[pause for emphasis]</a:t>
            </a:r>
          </a:p>
          <a:p>
            <a:endParaRPr lang="en-US" dirty="0"/>
          </a:p>
          <a:p>
            <a:r>
              <a:rPr lang="en-US" dirty="0"/>
              <a:t>"Why? Because on memory-bandwidth-bound hardware like the T4, per-token inference cost doesn't scale linearly with parameter count. Kernel launch overhead is roughly constant regardless of model size. Memory access patterns are similar. The cost gap gets </a:t>
            </a:r>
            <a:r>
              <a:rPr lang="en-US" i="1" dirty="0"/>
              <a:t>compressed</a:t>
            </a:r>
            <a:r>
              <a:rPr lang="en-US" dirty="0"/>
              <a:t>. So a model with one-third the parameters costs you </a:t>
            </a:r>
            <a:r>
              <a:rPr lang="en-US" i="1" dirty="0"/>
              <a:t>sixty percent</a:t>
            </a:r>
            <a:r>
              <a:rPr lang="en-US" dirty="0"/>
              <a:t> as much, not thirty-three percent.”</a:t>
            </a:r>
          </a:p>
          <a:p>
            <a:endParaRPr lang="en-US" dirty="0"/>
          </a:p>
          <a:p>
            <a:r>
              <a:rPr lang="en-US" dirty="0"/>
              <a:t>"Meanwhile PLD wins precisely because its draft cost is </a:t>
            </a:r>
            <a:r>
              <a:rPr lang="en-US" i="1" dirty="0"/>
              <a:t>literally zero on the GPU</a:t>
            </a:r>
            <a:r>
              <a:rPr lang="en-US" dirty="0"/>
              <a:t>. But look at the domain dependence — PLD ranges from 1.0X on one prompt to 2.61X on another. It depends entirely on input-output overlap. Code prompts hit 1.35X </a:t>
            </a:r>
            <a:r>
              <a:rPr lang="en-US" i="1" dirty="0"/>
              <a:t>even with linear SD</a:t>
            </a:r>
            <a:r>
              <a:rPr lang="en-US" dirty="0"/>
              <a:t>, because code has structured, predictable token patterns that produce high acceptance rates.”</a:t>
            </a:r>
          </a:p>
          <a:p>
            <a:endParaRPr lang="en-US" dirty="0"/>
          </a:p>
          <a:p>
            <a:r>
              <a:rPr lang="en-US" b="1" dirty="0"/>
              <a:t>[Self-note: At k=10 with linear SD, the draft stage costs 10 × Cd = 10 × 0.596 × Ct ≈ 5.96 × Ct. So even with PERFECT acceptance (</a:t>
            </a:r>
            <a:r>
              <a:rPr lang="el-GR" b="1" dirty="0"/>
              <a:t>α=1), </a:t>
            </a:r>
            <a:r>
              <a:rPr lang="en-US" b="1" dirty="0"/>
              <a:t>speedup = 10Ct / (5.96Ct + Ct) = 10/6.96 ≈ 1.44×. But with realistic </a:t>
            </a:r>
            <a:r>
              <a:rPr lang="el-GR" b="1" dirty="0"/>
              <a:t>α ≈ 0.49 </a:t>
            </a:r>
            <a:r>
              <a:rPr lang="en-US" b="1" dirty="0"/>
              <a:t>at k=10, expected committed tokens = 4.9, so speedup = 4.9 / 6.96 ≈ 0.70× in theory. Measured 0.92× is actually BETTER than predicted — that's the framework amortization effect I discuss on slide 8.]</a:t>
            </a:r>
          </a:p>
          <a:p>
            <a:endParaRPr lang="en-US" dirty="0"/>
          </a:p>
          <a:p>
            <a:r>
              <a:rPr lang="en-US" b="1" dirty="0"/>
              <a:t>[Self-note: The 2.61× PLD prompt is an instruction-following prompt where the output heavily reuses phrases from the instruction. The 1.0× prompt has minimal overlap between input and output — open-ended creative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genuinely surprising finding. I tested the same 1B draft against a larger 8B target in 4-bit quantization. The parameter ratio drops from 0.333 to 0.125 — much better on paper. You'd expect the draft to be proportionally much cheaper, and therefore bigger speedups.”</a:t>
            </a:r>
          </a:p>
          <a:p>
            <a:endParaRPr lang="en-US" dirty="0"/>
          </a:p>
          <a:p>
            <a:r>
              <a:rPr lang="en-US" dirty="0"/>
              <a:t>"But it's still a </a:t>
            </a:r>
            <a:r>
              <a:rPr lang="en-US" i="1" dirty="0"/>
              <a:t>slowdown</a:t>
            </a:r>
            <a:r>
              <a:rPr lang="en-US" dirty="0"/>
              <a:t>. The best configuration gives 0.95×.”</a:t>
            </a:r>
          </a:p>
          <a:p>
            <a:endParaRPr lang="en-US" dirty="0"/>
          </a:p>
          <a:p>
            <a:r>
              <a:rPr lang="en-US" dirty="0"/>
              <a:t>"Here's why. 4-bit quantization specifically reduces the </a:t>
            </a:r>
            <a:r>
              <a:rPr lang="en-US" i="1" dirty="0"/>
              <a:t>target model's</a:t>
            </a:r>
            <a:r>
              <a:rPr lang="en-US" dirty="0"/>
              <a:t> memory bandwidth demand — you're moving 4 bits per parameter instead of 16. So the target gets </a:t>
            </a:r>
            <a:r>
              <a:rPr lang="en-US" i="1" dirty="0"/>
              <a:t>faster</a:t>
            </a:r>
            <a:r>
              <a:rPr lang="en-US" dirty="0"/>
              <a:t>. But the fp16 draft model gets </a:t>
            </a:r>
            <a:r>
              <a:rPr lang="en-US" i="1" dirty="0"/>
              <a:t>no such benefit</a:t>
            </a:r>
            <a:r>
              <a:rPr lang="en-US" dirty="0"/>
              <a:t> — it's still moving 16 bits per parameter. So the effective cost ratio Cd/Ct actually </a:t>
            </a:r>
            <a:r>
              <a:rPr lang="en-US" i="1" dirty="0"/>
              <a:t>increases</a:t>
            </a:r>
            <a:r>
              <a:rPr lang="en-US" dirty="0"/>
              <a:t>, not decreases.”</a:t>
            </a:r>
          </a:p>
          <a:p>
            <a:endParaRPr lang="en-US" dirty="0"/>
          </a:p>
          <a:p>
            <a:r>
              <a:rPr lang="en-US" dirty="0"/>
              <a:t>"This has real practical implications because quantized deployment is the norm on cost-constrained hardware. If you're running a quantized target and you try to accelerate it with an fp16 draft — which is the standard approach — you might be making things </a:t>
            </a:r>
            <a:r>
              <a:rPr lang="en-US" i="1" dirty="0"/>
              <a:t>worse</a:t>
            </a:r>
            <a:r>
              <a:rPr lang="en-US" dirty="0"/>
              <a:t>, not better.”</a:t>
            </a:r>
          </a:p>
          <a:p>
            <a:endParaRPr lang="en-US" dirty="0"/>
          </a:p>
          <a:p>
            <a:r>
              <a:rPr lang="en-US" dirty="0"/>
              <a:t>"One sentence takeaway: </a:t>
            </a:r>
            <a:r>
              <a:rPr lang="en-US" i="1" dirty="0"/>
              <a:t>parameter ratio and cost ratio diverge under quantization.</a:t>
            </a:r>
            <a:r>
              <a:rPr lang="en-US" dirty="0"/>
              <a:t> You must measure the actual cost ratio on your specific hardware.”</a:t>
            </a:r>
          </a:p>
          <a:p>
            <a:endParaRPr lang="en-US" dirty="0"/>
          </a:p>
          <a:p>
            <a:r>
              <a:rPr lang="en-US" b="1" dirty="0"/>
              <a:t>[Self-note — if asked "couldn't you quantize the draft too?": Yes, in principle. But quantization of very small models (1B) can degrade quality significantly, reducing acceptance rate </a:t>
            </a:r>
            <a:r>
              <a:rPr lang="el-GR" b="1" dirty="0"/>
              <a:t>α — </a:t>
            </a:r>
            <a:r>
              <a:rPr lang="en-US" b="1" dirty="0"/>
              <a:t>which compounds the problem. There's no free lunch. The deeper issue is that the cost ratio is a system-level property, not a model-level property.]</a:t>
            </a:r>
          </a:p>
          <a:p>
            <a:endParaRPr lang="en-US" dirty="0"/>
          </a:p>
          <a:p>
            <a:r>
              <a:rPr lang="en-US" b="1" dirty="0"/>
              <a:t>[Self-note: The per-prompt pattern is even more extreme here. Code prompts reach 1.37-1.45× with the 8B config, while open-ended text drops to 0.52-0.65×. The 8B model's stronger language modeling actually INCREASES the cost of drafting failures because each wasted draft cycle is more expensive relative to what the now-faster target could have done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close the loop between the theoretical framework and actual measurements. I independently measured all three variables: draft cost Cd = 22.42 milliseconds per token, target cost Ct = 37.63 milliseconds per token, and acceptance rate </a:t>
            </a:r>
            <a:r>
              <a:rPr lang="el-GR" dirty="0"/>
              <a:t>α — </a:t>
            </a:r>
            <a:r>
              <a:rPr lang="en-US" dirty="0"/>
              <a:t>measured per-prompt using my custom SD loop, not estimated.”</a:t>
            </a:r>
          </a:p>
          <a:p>
            <a:endParaRPr lang="en-US" dirty="0"/>
          </a:p>
          <a:p>
            <a:r>
              <a:rPr lang="en-US" dirty="0"/>
              <a:t>"I plugged these into Equation 1 — the theoretical prediction — and compared against actual measured speedup. Look at the Gap column.”</a:t>
            </a:r>
          </a:p>
          <a:p>
            <a:endParaRPr lang="en-US" dirty="0"/>
          </a:p>
          <a:p>
            <a:r>
              <a:rPr lang="en-US" dirty="0"/>
              <a:t>"Every single row: measured speedup </a:t>
            </a:r>
            <a:r>
              <a:rPr lang="en-US" i="1" dirty="0"/>
              <a:t>exceeds</a:t>
            </a:r>
            <a:r>
              <a:rPr lang="en-US" dirty="0"/>
              <a:t> the theoretical prediction by about +0.2×. That's consistent across all values of k.”</a:t>
            </a:r>
          </a:p>
          <a:p>
            <a:endParaRPr lang="en-US" dirty="0"/>
          </a:p>
          <a:p>
            <a:r>
              <a:rPr lang="en-US" dirty="0"/>
              <a:t>"Why does reality </a:t>
            </a:r>
            <a:r>
              <a:rPr lang="en-US" i="1" dirty="0"/>
              <a:t>beat</a:t>
            </a:r>
            <a:r>
              <a:rPr lang="en-US" dirty="0"/>
              <a:t> theory here? Because I measured Cd and Ct via </a:t>
            </a:r>
            <a:r>
              <a:rPr lang="en-US" i="1" dirty="0"/>
              <a:t>standalone autoregressive generation</a:t>
            </a:r>
            <a:r>
              <a:rPr lang="en-US" dirty="0"/>
              <a:t> — each model running independently. But when you put them together inside </a:t>
            </a:r>
            <a:r>
              <a:rPr lang="en-US" dirty="0" err="1"/>
              <a:t>HuggingFace's</a:t>
            </a:r>
            <a:r>
              <a:rPr lang="en-US" dirty="0"/>
              <a:t> speculative decoding pipeline inside, costs are amortized. The KV-cache is shared more efficiently. Verification is batched. The draft and target don't each pay full standalone costs.”</a:t>
            </a:r>
          </a:p>
          <a:p>
            <a:endParaRPr lang="en-US" dirty="0"/>
          </a:p>
          <a:p>
            <a:r>
              <a:rPr lang="en-US" dirty="0"/>
              <a:t>"The </a:t>
            </a:r>
            <a:r>
              <a:rPr lang="en-US" i="1" dirty="0"/>
              <a:t>consistency</a:t>
            </a:r>
            <a:r>
              <a:rPr lang="en-US" dirty="0"/>
              <a:t> of this +0.2× gap is the key observation. If it were noisy — some positive, some negative — it would be measurement error. But it's systematically positive, which means there's a real framework-level optimization effect that the theoretical model doesn't capture.”</a:t>
            </a:r>
          </a:p>
          <a:p>
            <a:endParaRPr lang="en-US" dirty="0"/>
          </a:p>
          <a:p>
            <a:r>
              <a:rPr lang="en-US" dirty="0"/>
              <a:t>"And that last line in the box — at k=5, you need an acceptance rate above 0.80 for speedup greater than 1.0. Across my prompts, only code prompts — with </a:t>
            </a:r>
            <a:r>
              <a:rPr lang="el-GR" dirty="0"/>
              <a:t>α </a:t>
            </a:r>
            <a:r>
              <a:rPr lang="en-US" dirty="0"/>
              <a:t>approaching 1.0 — cross that threshold on this hardware.”</a:t>
            </a:r>
          </a:p>
          <a:p>
            <a:endParaRPr lang="en-US" dirty="0"/>
          </a:p>
          <a:p>
            <a:r>
              <a:rPr lang="en-US" b="1" dirty="0"/>
              <a:t>[If someone asks "where did those numbers come from," the answer is: "I measured them via independent autoregressive generation of each model, specifically to get clean per-token costs for the theoretical prediction. The fact that the theoretical prediction then </a:t>
            </a:r>
            <a:r>
              <a:rPr lang="en-US" b="1" i="1" dirty="0"/>
              <a:t>underestimates</a:t>
            </a:r>
            <a:r>
              <a:rPr lang="en-US" b="1" dirty="0"/>
              <a:t> measured speedup is itself a finding — it reveals framework-level amortization that the cost model doesn't capture.”]</a:t>
            </a:r>
          </a:p>
          <a:p>
            <a:endParaRPr lang="en-US" dirty="0"/>
          </a:p>
          <a:p>
            <a:r>
              <a:rPr lang="en-US" b="1" dirty="0"/>
              <a:t>[Self-note — if asked "how did you measure </a:t>
            </a:r>
            <a:r>
              <a:rPr lang="el-GR" b="1" dirty="0"/>
              <a:t>α </a:t>
            </a:r>
            <a:r>
              <a:rPr lang="en-US" b="1" dirty="0"/>
              <a:t>independently?": I wrote a manual speculative decoding loop (separate from </a:t>
            </a:r>
            <a:r>
              <a:rPr lang="en-US" b="1" dirty="0" err="1"/>
              <a:t>HuggingFace's</a:t>
            </a:r>
            <a:r>
              <a:rPr lang="en-US" b="1" dirty="0"/>
              <a:t> API) that records, for each iteration, how many of the k proposed tokens were accepted. Then </a:t>
            </a:r>
            <a:r>
              <a:rPr lang="el-GR" b="1" dirty="0"/>
              <a:t>α = </a:t>
            </a:r>
            <a:r>
              <a:rPr lang="en-US" b="1" dirty="0"/>
              <a:t>average(</a:t>
            </a:r>
            <a:r>
              <a:rPr lang="en-US" b="1" dirty="0" err="1"/>
              <a:t>accepted_per_iter</a:t>
            </a:r>
            <a:r>
              <a:rPr lang="en-US" b="1" dirty="0"/>
              <a:t> / k) across iterations. This gives per-prompt granularity. </a:t>
            </a:r>
            <a:r>
              <a:rPr lang="en-US" b="1" dirty="0" err="1"/>
              <a:t>HuggingFace's</a:t>
            </a:r>
            <a:r>
              <a:rPr lang="en-US" b="1" dirty="0"/>
              <a:t> API doesn't expose this.]</a:t>
            </a:r>
          </a:p>
          <a:p>
            <a:endParaRPr lang="en-US" dirty="0"/>
          </a:p>
          <a:p>
            <a:r>
              <a:rPr lang="en-US" b="1" dirty="0"/>
              <a:t>[Self-note — if asked "could the +0.2× be CUDA warmup artifacts?": No, because (1) I do 3 warmup iterations before timing, (2) the gap is consistent across k values, and (3) it's consistent across prompts. Warmup artifacts would show up as variance, not systematic bias. The more likely explanation is genuine pipeline optimization — the framework avoids redundant memory allocations and reuses KV-cache buffers across draft-verify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go beyond the theory-practice gap and directly attribute bottlenecks, I used the </a:t>
            </a:r>
            <a:r>
              <a:rPr lang="en-US" dirty="0" err="1"/>
              <a:t>PyTorch</a:t>
            </a:r>
            <a:r>
              <a:rPr lang="en-US" dirty="0"/>
              <a:t> Profiler to decompose CUDA execution time by operation category.”</a:t>
            </a:r>
          </a:p>
          <a:p>
            <a:endParaRPr lang="en-US" dirty="0"/>
          </a:p>
          <a:p>
            <a:r>
              <a:rPr lang="en-US" dirty="0"/>
              <a:t>"Baseline autoregressive: 8,334 </a:t>
            </a:r>
            <a:r>
              <a:rPr lang="en-US" dirty="0" err="1"/>
              <a:t>ms</a:t>
            </a:r>
            <a:r>
              <a:rPr lang="en-US" dirty="0"/>
              <a:t> average CUDA time per prompt. Linear SD at k=5: 6,583 </a:t>
            </a:r>
            <a:r>
              <a:rPr lang="en-US" dirty="0" err="1"/>
              <a:t>ms</a:t>
            </a:r>
            <a:r>
              <a:rPr lang="en-US" dirty="0"/>
              <a:t> — 21% less total CUDA time. Prompt lookup at n=5: 5,975 </a:t>
            </a:r>
            <a:r>
              <a:rPr lang="en-US" dirty="0" err="1"/>
              <a:t>ms</a:t>
            </a:r>
            <a:r>
              <a:rPr lang="en-US" dirty="0"/>
              <a:t> — 28% less.”</a:t>
            </a:r>
          </a:p>
          <a:p>
            <a:endParaRPr lang="en-US" dirty="0"/>
          </a:p>
          <a:p>
            <a:r>
              <a:rPr lang="en-US" dirty="0"/>
              <a:t>"Now look at the breakdown. In the baseline, </a:t>
            </a:r>
            <a:r>
              <a:rPr lang="en-US" dirty="0" err="1"/>
              <a:t>matmul</a:t>
            </a:r>
            <a:r>
              <a:rPr lang="en-US" dirty="0"/>
              <a:t> operations — the actual matrix multiplications in attention and feed-forward layers — account for only about 20% of total CUDA time. Memory operations are about 1.3%. And 'other' — which is kernel scheduling, CUDA stream synchronization, and framework overhead — accounts for </a:t>
            </a:r>
            <a:r>
              <a:rPr lang="en-US" i="1" dirty="0"/>
              <a:t>78%</a:t>
            </a:r>
            <a:r>
              <a:rPr lang="en-US" dirty="0"/>
              <a:t>.”</a:t>
            </a:r>
          </a:p>
          <a:p>
            <a:endParaRPr lang="en-US" dirty="0"/>
          </a:p>
          <a:p>
            <a:r>
              <a:rPr lang="en-US" i="1" dirty="0"/>
              <a:t>[pause — this is a big number]</a:t>
            </a:r>
          </a:p>
          <a:p>
            <a:endParaRPr lang="en-US" dirty="0"/>
          </a:p>
          <a:p>
            <a:r>
              <a:rPr lang="en-US" dirty="0"/>
              <a:t>"That 78% tells you something important about the T4: most of your time is </a:t>
            </a:r>
            <a:r>
              <a:rPr lang="en-US" i="1" dirty="0"/>
              <a:t>not</a:t>
            </a:r>
            <a:r>
              <a:rPr lang="en-US" dirty="0"/>
              <a:t> spent doing useful compute. It's overhead. This is what 'bandwidth-bound' looks like in practice.”</a:t>
            </a:r>
          </a:p>
          <a:p>
            <a:endParaRPr lang="en-US" dirty="0"/>
          </a:p>
          <a:p>
            <a:r>
              <a:rPr lang="en-US" dirty="0"/>
              <a:t>"For linear SD, the critical finding: KV-cache rewind overhead — the </a:t>
            </a:r>
            <a:r>
              <a:rPr lang="en-US" dirty="0" err="1"/>
              <a:t>Csys</a:t>
            </a:r>
            <a:r>
              <a:rPr lang="en-US" dirty="0"/>
              <a:t> term from my equations — is about 0.10 milliseconds per iteration. </a:t>
            </a:r>
            <a:r>
              <a:rPr lang="en-US" i="1" dirty="0"/>
              <a:t>Essentially zero.</a:t>
            </a:r>
            <a:r>
              <a:rPr lang="en-US" dirty="0"/>
              <a:t> So the bottleneck in linear SD is </a:t>
            </a:r>
            <a:r>
              <a:rPr lang="en-US" i="1" dirty="0"/>
              <a:t>not</a:t>
            </a:r>
            <a:r>
              <a:rPr lang="en-US" dirty="0"/>
              <a:t> cache management. It's the raw cost of the draft model's forward passes. The draft is eating your time budget before verification even starts.”</a:t>
            </a:r>
          </a:p>
          <a:p>
            <a:endParaRPr lang="en-US" dirty="0"/>
          </a:p>
          <a:p>
            <a:r>
              <a:rPr lang="en-US" dirty="0"/>
              <a:t>"For PLD, the profiler confirms what Equation 4 predicts: retrieval cost adds </a:t>
            </a:r>
            <a:r>
              <a:rPr lang="en-US" i="1" dirty="0"/>
              <a:t>zero GPU time</a:t>
            </a:r>
            <a:r>
              <a:rPr lang="en-US" dirty="0"/>
              <a:t>. The n-gram matching happens on CPU, and it's so fast it doesn't even show up. All the savings come purely from doing </a:t>
            </a:r>
            <a:r>
              <a:rPr lang="en-US" i="1" dirty="0"/>
              <a:t>fewer</a:t>
            </a:r>
            <a:r>
              <a:rPr lang="en-US" dirty="0"/>
              <a:t> target forward passes.”</a:t>
            </a:r>
          </a:p>
          <a:p>
            <a:endParaRPr lang="en-US" dirty="0"/>
          </a:p>
          <a:p>
            <a:r>
              <a:rPr lang="en-US" dirty="0"/>
              <a:t>"This is why PLD wins despite having lower average acceptance rates than linear SD on some prompts — it doesn't pay the draft tax.”</a:t>
            </a:r>
          </a:p>
          <a:p>
            <a:endParaRPr lang="en-US" dirty="0"/>
          </a:p>
          <a:p>
            <a:r>
              <a:rPr lang="en-US" b="1" dirty="0"/>
              <a:t>[Self-note — if asked "what's in the 78% 'other' category?": CUDA kernel launch overhead (each kernel launch has ~5-10 microseconds of CPU-side dispatch), CUDA stream synchronization, Python framework overhead (</a:t>
            </a:r>
            <a:r>
              <a:rPr lang="en-US" b="1" dirty="0" err="1"/>
              <a:t>PyTorch's</a:t>
            </a:r>
            <a:r>
              <a:rPr lang="en-US" b="1" dirty="0"/>
              <a:t> </a:t>
            </a:r>
            <a:r>
              <a:rPr lang="en-US" b="1" dirty="0" err="1"/>
              <a:t>autograd</a:t>
            </a:r>
            <a:r>
              <a:rPr lang="en-US" b="1" dirty="0"/>
              <a:t> bookkeeping, tensor allocation/deallocation), and </a:t>
            </a:r>
            <a:r>
              <a:rPr lang="en-US" b="1" dirty="0" err="1"/>
              <a:t>cuDNN</a:t>
            </a:r>
            <a:r>
              <a:rPr lang="en-US" b="1" dirty="0"/>
              <a:t>/</a:t>
            </a:r>
            <a:r>
              <a:rPr lang="en-US" b="1" dirty="0" err="1"/>
              <a:t>cuBLAS</a:t>
            </a:r>
            <a:r>
              <a:rPr lang="en-US" b="1" dirty="0"/>
              <a:t> library initialization for each kernel. On a faster GPU like A100 with higher bandwidth, the compute fraction would be larger and this overhead fraction would shrink. The T4's limited bandwidth means each kernel processes data relatively slowly, but the fixed per-kernel overhead stays the same — so overhead dominates.]</a:t>
            </a:r>
          </a:p>
          <a:p>
            <a:endParaRPr lang="en-US" dirty="0"/>
          </a:p>
          <a:p>
            <a:r>
              <a:rPr lang="en-US" b="1" dirty="0"/>
              <a:t>[Self-note — if asked about the profiler methodology: I used </a:t>
            </a:r>
            <a:r>
              <a:rPr lang="en-US" b="1" dirty="0" err="1"/>
              <a:t>torch.profiler.profile</a:t>
            </a:r>
            <a:r>
              <a:rPr lang="en-US" b="1" dirty="0"/>
              <a:t>() with activities=[</a:t>
            </a:r>
            <a:r>
              <a:rPr lang="en-US" b="1" dirty="0" err="1"/>
              <a:t>ProfilerActivity.CUDA</a:t>
            </a:r>
            <a:r>
              <a:rPr lang="en-US" b="1" dirty="0"/>
              <a:t>], recorded kernel-level traces, and exported to Chrome traces. I categorized CUDA events by matching kernel names: "</a:t>
            </a:r>
            <a:r>
              <a:rPr lang="en-US" b="1" dirty="0" err="1"/>
              <a:t>gemm</a:t>
            </a:r>
            <a:r>
              <a:rPr lang="en-US" b="1" dirty="0"/>
              <a:t>"/"mm" → </a:t>
            </a:r>
            <a:r>
              <a:rPr lang="en-US" b="1" dirty="0" err="1"/>
              <a:t>matmul</a:t>
            </a:r>
            <a:r>
              <a:rPr lang="en-US" b="1" dirty="0"/>
              <a:t>, "</a:t>
            </a:r>
            <a:r>
              <a:rPr lang="en-US" b="1" dirty="0" err="1"/>
              <a:t>memcpy</a:t>
            </a:r>
            <a:r>
              <a:rPr lang="en-US" b="1" dirty="0"/>
              <a:t>"/"</a:t>
            </a:r>
            <a:r>
              <a:rPr lang="en-US" b="1" dirty="0" err="1"/>
              <a:t>memset</a:t>
            </a:r>
            <a:r>
              <a:rPr lang="en-US" b="1" dirty="0"/>
              <a:t>" → memory, everything else → other. The PT 2.10 API changed some method signatures from earlier versions, which required version-safe wrapper code.]</a:t>
            </a:r>
          </a:p>
          <a:p>
            <a:endParaRPr lang="en-US" dirty="0"/>
          </a:p>
          <a:p>
            <a:r>
              <a:rPr lang="en-US" b="1" dirty="0"/>
              <a:t>[Self-note on "draft tax": This is my term for the key insight. In linear SD, you pay GPU compute for drafting even when candidates get rejected. In PLD, rejected candidates cost you nothing on the GPU. So PLD's break-even point is much lower — any prompt where PLD gets </a:t>
            </a:r>
            <a:r>
              <a:rPr lang="el-GR" b="1" dirty="0"/>
              <a:t>α &gt; 0 </a:t>
            </a:r>
            <a:r>
              <a:rPr lang="en-US" b="1" dirty="0"/>
              <a:t>is at least as fast as baseline, and usually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result on temperature. Sampling makes linear SD performance </a:t>
            </a:r>
            <a:r>
              <a:rPr lang="en-US" i="1" dirty="0"/>
              <a:t>worse across the board</a:t>
            </a:r>
            <a:r>
              <a:rPr lang="en-US" dirty="0"/>
              <a:t>. At temperature 0.6, the 1B/3B config drops from 0.98× to 0.77×. The 1B/8B-4bit config drops to 0.72× — a 28% slowdown.”</a:t>
            </a:r>
          </a:p>
          <a:p>
            <a:endParaRPr lang="en-US" dirty="0"/>
          </a:p>
          <a:p>
            <a:r>
              <a:rPr lang="en-US" dirty="0"/>
              <a:t>"The mechanism is straightforward: higher temperature increases randomness in the target's distribution. The draft model's predictions become less likely to match. Acceptance rate </a:t>
            </a:r>
            <a:r>
              <a:rPr lang="el-GR" dirty="0"/>
              <a:t>α </a:t>
            </a:r>
            <a:r>
              <a:rPr lang="en-US" dirty="0"/>
              <a:t>drops. And when you're already near the failure threshold on cost ratio, lower </a:t>
            </a:r>
            <a:r>
              <a:rPr lang="el-GR" dirty="0"/>
              <a:t>α </a:t>
            </a:r>
            <a:r>
              <a:rPr lang="en-US" i="1" dirty="0"/>
              <a:t>compounds</a:t>
            </a:r>
            <a:r>
              <a:rPr lang="en-US" dirty="0"/>
              <a:t> the problem — you're paying the full draft cost but accepting fewer tokens.”</a:t>
            </a:r>
          </a:p>
          <a:p>
            <a:endParaRPr lang="en-US" dirty="0"/>
          </a:p>
          <a:p>
            <a:r>
              <a:rPr lang="en-US" dirty="0"/>
              <a:t>"This is exactly the regime where tree-structured methods like Sequoia are designed to shine. Sequoia uses a </a:t>
            </a:r>
            <a:r>
              <a:rPr lang="en-US" i="1" dirty="0"/>
              <a:t>sampling-without-replacement</a:t>
            </a:r>
            <a:r>
              <a:rPr lang="en-US" dirty="0"/>
              <a:t> verification procedure that maintains high effective acceptance rates even at elevated temperatures — unlike the standard rejection sampling used in linear SD.”</a:t>
            </a:r>
          </a:p>
          <a:p>
            <a:endParaRPr lang="en-US" dirty="0"/>
          </a:p>
          <a:p>
            <a:r>
              <a:rPr lang="en-US" b="1" dirty="0"/>
              <a:t>[Self-note — if asked "why does T=0.8 sometimes beat T=0.6?": It looks counterintuitive but it's within noise bounds (0.83 vs 0.77). The variance across prompts at non-zero temperature is much higher than at greedy. Don't over-interpret the T=0.8 &gt; T=0.6 ordering — the trend is clear: any sampling hurts relative to greedy.]</a:t>
            </a:r>
          </a:p>
          <a:p>
            <a:endParaRPr lang="en-US" dirty="0"/>
          </a:p>
          <a:p>
            <a:r>
              <a:rPr lang="en-US" b="1" dirty="0"/>
              <a:t>[Self-note — Sequoia's sampling-without-replacement: Standard speculative decoding uses top-k or nucleus sampling for draft tokens. At low temperature, the draft might repeatedly propose the same high-probability token that happens to differ from the target's choice. Sequoia samples WITHOUT replacement across tree branches, ensuring diversity in the candidate set. This gives more coverage of the target's distribution, maintaining acceptance rates even when the distribution is peaked.]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tree-structured family. I spent about ten iterations trying to get Sequoia running on T4. Here's what I ran into.”</a:t>
            </a:r>
          </a:p>
          <a:p>
            <a:endParaRPr lang="en-US" dirty="0"/>
          </a:p>
          <a:p>
            <a:r>
              <a:rPr lang="en-US" dirty="0"/>
              <a:t>"About ten attempts to port Sequoia to T4. The repo ships </a:t>
            </a:r>
            <a:r>
              <a:rPr lang="en-US" dirty="0" err="1"/>
              <a:t>growmaps</a:t>
            </a:r>
            <a:r>
              <a:rPr lang="en-US" dirty="0"/>
              <a:t> only for A100 and L40. The DP tree optimizer has </a:t>
            </a:r>
            <a:r>
              <a:rPr lang="en-US" dirty="0" err="1"/>
              <a:t>PyTorch</a:t>
            </a:r>
            <a:r>
              <a:rPr lang="en-US" dirty="0"/>
              <a:t> 2.10 compatibility issues. I tried source-level patches — couldn't get clean results.”</a:t>
            </a:r>
          </a:p>
          <a:p>
            <a:endParaRPr lang="en-US" dirty="0"/>
          </a:p>
          <a:p>
            <a:r>
              <a:rPr lang="en-US" dirty="0"/>
              <a:t>"But as I worked through these attempts, I realized something more important: </a:t>
            </a:r>
            <a:r>
              <a:rPr lang="en-US" i="1" dirty="0"/>
              <a:t>even if I got it running, the results wouldn't be scientifically meaningful.</a:t>
            </a:r>
            <a:r>
              <a:rPr lang="en-US" dirty="0"/>
              <a:t> Here's why.”</a:t>
            </a:r>
          </a:p>
          <a:p>
            <a:endParaRPr lang="en-US" dirty="0"/>
          </a:p>
          <a:p>
            <a:r>
              <a:rPr lang="en-US" dirty="0"/>
              <a:t>"The A100 </a:t>
            </a:r>
            <a:r>
              <a:rPr lang="en-US" dirty="0" err="1"/>
              <a:t>growmaps</a:t>
            </a:r>
            <a:r>
              <a:rPr lang="en-US" dirty="0"/>
              <a:t> encode tree topologies optimized for A100's compute-to-bandwidth profile. Running them on T4 means you're using a tree shape designed for different hardware — you're measuring the </a:t>
            </a:r>
            <a:r>
              <a:rPr lang="en-US" i="1" dirty="0"/>
              <a:t>wrong tree</a:t>
            </a:r>
            <a:r>
              <a:rPr lang="en-US" dirty="0"/>
              <a:t>, not tree speculation's potential on T4. And if I shrink the target model to fit in memory, I break the controlled comparison with Families 1 and 3, which both use the 3B target.”</a:t>
            </a:r>
          </a:p>
          <a:p>
            <a:endParaRPr lang="en-US" dirty="0"/>
          </a:p>
          <a:p>
            <a:r>
              <a:rPr lang="en-US" dirty="0"/>
              <a:t>"But it goes deeper than methodology. Look at the compute-to-bandwidth ratios. T4's ratio is actually </a:t>
            </a:r>
            <a:r>
              <a:rPr lang="en-US" i="1" dirty="0"/>
              <a:t>higher</a:t>
            </a:r>
            <a:r>
              <a:rPr lang="en-US" dirty="0"/>
              <a:t> than A100 — 217 versus 156. Sequoia's theory says that means T4 needs </a:t>
            </a:r>
            <a:r>
              <a:rPr lang="en-US" i="1" dirty="0"/>
              <a:t>larger</a:t>
            </a:r>
            <a:r>
              <a:rPr lang="en-US" dirty="0"/>
              <a:t> optimal trees to utilize its compute headroom. But T4 only has 16 gigs of VRAM. It </a:t>
            </a:r>
            <a:r>
              <a:rPr lang="en-US" i="1" dirty="0"/>
              <a:t>can't fit</a:t>
            </a:r>
            <a:r>
              <a:rPr lang="en-US" dirty="0"/>
              <a:t> large trees alongside the target model.”</a:t>
            </a:r>
          </a:p>
          <a:p>
            <a:endParaRPr lang="en-US" dirty="0"/>
          </a:p>
          <a:p>
            <a:r>
              <a:rPr lang="en-US" dirty="0"/>
              <a:t>"It's a catch-22: the hardware demands large trees, but can't support them. Even a </a:t>
            </a:r>
            <a:r>
              <a:rPr lang="en-US" i="1" dirty="0"/>
              <a:t>properly optimized</a:t>
            </a:r>
            <a:r>
              <a:rPr lang="en-US" dirty="0"/>
              <a:t> T4 </a:t>
            </a:r>
            <a:r>
              <a:rPr lang="en-US" dirty="0" err="1"/>
              <a:t>growmap</a:t>
            </a:r>
            <a:r>
              <a:rPr lang="en-US" dirty="0"/>
              <a:t> would produce a tree so small that it offers minimal advantage over linear speculation. That's not an engineering failure — it's a </a:t>
            </a:r>
            <a:r>
              <a:rPr lang="en-US" i="1" dirty="0"/>
              <a:t>fundamental deployment mismatch</a:t>
            </a:r>
            <a:r>
              <a:rPr lang="en-US" dirty="0"/>
              <a:t> for bandwidth-bound GPUs with limited memory.”</a:t>
            </a:r>
          </a:p>
          <a:p>
            <a:endParaRPr lang="en-US" dirty="0"/>
          </a:p>
          <a:p>
            <a:r>
              <a:rPr lang="en-US" dirty="0"/>
              <a:t>"Meanwhile, linear SD and PLD each took one parameter change in </a:t>
            </a:r>
            <a:r>
              <a:rPr lang="en-US" dirty="0" err="1"/>
              <a:t>HuggingFace</a:t>
            </a:r>
            <a:r>
              <a:rPr lang="en-US" dirty="0"/>
              <a:t>. Deployment complexity — and deployment </a:t>
            </a:r>
            <a:r>
              <a:rPr lang="en-US" i="1" dirty="0"/>
              <a:t>feasibility</a:t>
            </a:r>
            <a:r>
              <a:rPr lang="en-US" dirty="0"/>
              <a:t> — is a real dimension of comparison.”</a:t>
            </a:r>
          </a:p>
          <a:p>
            <a:endParaRPr lang="en-US" dirty="0"/>
          </a:p>
          <a:p>
            <a:r>
              <a:rPr lang="en-US" b="1" dirty="0"/>
              <a:t>[Self-note: If asked "so are tree methods just bad?" — No. On A100/H100 with 80GB VRAM and 2 TB/s bandwidth, the ratio is lower (needs smaller trees) and the memory budget is huge (can fit large trees). Sequoia reports 3-4× on A100. Tree methods are excellent hardware — they're just not designed for the T4 class of GPU, and that's itself a finding about the deployment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practical takeaways for someone deploying LLM inference.”</a:t>
            </a:r>
          </a:p>
          <a:p>
            <a:endParaRPr lang="en-US" dirty="0"/>
          </a:p>
          <a:p>
            <a:r>
              <a:rPr lang="en-US" i="1" dirty="0"/>
              <a:t>[point to left card]</a:t>
            </a:r>
          </a:p>
          <a:p>
            <a:endParaRPr lang="en-US" dirty="0"/>
          </a:p>
          <a:p>
            <a:r>
              <a:rPr lang="en-US" dirty="0"/>
              <a:t>"Start with Prompt Lookup Decoding. Zero cost to try — one parameter, no extra GPU memory. If your task has input-output overlap — summarization, RAG, code completion, any input-grounded task — you'll likely get 1.3× or better. Only skip it for purely open-ended creative generation where there's no overlap.”</a:t>
            </a:r>
          </a:p>
          <a:p>
            <a:endParaRPr lang="en-US" dirty="0"/>
          </a:p>
          <a:p>
            <a:r>
              <a:rPr lang="en-US" i="1" dirty="0"/>
              <a:t>[point to middle card]</a:t>
            </a:r>
          </a:p>
          <a:p>
            <a:endParaRPr lang="en-US" dirty="0"/>
          </a:p>
          <a:p>
            <a:r>
              <a:rPr lang="en-US" dirty="0"/>
              <a:t>"For linear SD: </a:t>
            </a:r>
            <a:r>
              <a:rPr lang="en-US" i="1" dirty="0"/>
              <a:t>measure your actual cost ratio</a:t>
            </a:r>
            <a:r>
              <a:rPr lang="en-US" dirty="0"/>
              <a:t> before committing. You need Cd/Ct well below 0.2 for meaningful gains. Do not assume from parameter counts. And if your target model is quantized, watch out for the quantization trap — the effective ratio is worse than it looks.”</a:t>
            </a:r>
          </a:p>
          <a:p>
            <a:endParaRPr lang="en-US" dirty="0"/>
          </a:p>
          <a:p>
            <a:r>
              <a:rPr lang="en-US" i="1" dirty="0"/>
              <a:t>[point to right card]</a:t>
            </a:r>
          </a:p>
          <a:p>
            <a:endParaRPr lang="en-US" dirty="0"/>
          </a:p>
          <a:p>
            <a:r>
              <a:rPr lang="en-US" dirty="0"/>
              <a:t>"Tree-structured methods are the play for high-end hardware — A100, H100 — with large VRAM budgets. They're temperature-robust, which matters if you're doing sampling-based generation. But budget for deployment engineering. You need hardware-specific tree topologies, and the tooling isn't plug-and-play.”</a:t>
            </a:r>
          </a:p>
          <a:p>
            <a:endParaRPr lang="en-US" dirty="0"/>
          </a:p>
          <a:p>
            <a:r>
              <a:rPr lang="en-US" b="1" dirty="0"/>
              <a:t>[Self-note: The "&lt; 0.2" threshold comes from working backward through Equation 1. For speedup &gt; 1.0 at k=5 with </a:t>
            </a:r>
            <a:r>
              <a:rPr lang="el-GR" b="1" dirty="0"/>
              <a:t>α=0.7 (</a:t>
            </a:r>
            <a:r>
              <a:rPr lang="en-US" b="1" dirty="0"/>
              <a:t>reasonable acceptance): S = 0.7×5×Ct / (5×Cd + Ct) &gt; 1.0 → 3.5Ct &gt; 5Cd + Ct → 2.5Ct &gt; 5Cd → Cd/Ct &lt; 0.5. But for MEANINGFUL speedup (&gt;1.3×): need Cd/Ct &lt; ~0.2. With the 68m/7B pair (Cd/Ct ≈ 0.05), Sequoia gets 3-4× on A100.]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Five contributions.”</a:t>
            </a:r>
          </a:p>
          <a:p>
            <a:endParaRPr lang="en-US" dirty="0"/>
          </a:p>
          <a:p>
            <a:r>
              <a:rPr lang="en-US" dirty="0"/>
              <a:t>"First: a </a:t>
            </a:r>
            <a:r>
              <a:rPr lang="en-US" i="1" dirty="0"/>
              <a:t>unified theoretical framework</a:t>
            </a:r>
            <a:r>
              <a:rPr lang="en-US" dirty="0"/>
              <a:t> — Equations 1 through 4 — that exposes where each family spends its system resources, in a common notation that enables direct comparison.”</a:t>
            </a:r>
          </a:p>
          <a:p>
            <a:endParaRPr lang="en-US" dirty="0"/>
          </a:p>
          <a:p>
            <a:r>
              <a:rPr lang="en-US" dirty="0"/>
              <a:t>"Second: </a:t>
            </a:r>
            <a:r>
              <a:rPr lang="en-US" i="1" dirty="0"/>
              <a:t>controlled empirical validation</a:t>
            </a:r>
            <a:r>
              <a:rPr lang="en-US" dirty="0"/>
              <a:t> on T4 with 30-trial statistical rigor. Two families fully validated, with per-prompt granularity.”</a:t>
            </a:r>
          </a:p>
          <a:p>
            <a:endParaRPr lang="en-US" dirty="0"/>
          </a:p>
          <a:p>
            <a:r>
              <a:rPr lang="en-US" dirty="0"/>
              <a:t>"Third: several findings I believe are </a:t>
            </a:r>
            <a:r>
              <a:rPr lang="en-US" i="1" dirty="0"/>
              <a:t>novel to the literature</a:t>
            </a:r>
            <a:r>
              <a:rPr lang="en-US" dirty="0"/>
              <a:t>. The cost-ratio-parameter-ratio divergence on bandwidth-bound hardware. The quantization trap. The consistent +0.2× framework amortization effect.”</a:t>
            </a:r>
          </a:p>
          <a:p>
            <a:endParaRPr lang="en-US" dirty="0"/>
          </a:p>
          <a:p>
            <a:r>
              <a:rPr lang="en-US" dirty="0"/>
              <a:t>"Fourth: </a:t>
            </a:r>
            <a:r>
              <a:rPr lang="en-US" i="1" dirty="0"/>
              <a:t>profiler-level bottleneck attribution</a:t>
            </a:r>
            <a:r>
              <a:rPr lang="en-US" dirty="0"/>
              <a:t>. </a:t>
            </a:r>
            <a:r>
              <a:rPr lang="en-US" dirty="0" err="1"/>
              <a:t>Csys</a:t>
            </a:r>
            <a:r>
              <a:rPr lang="en-US" dirty="0"/>
              <a:t> is negligible at 0.1 </a:t>
            </a:r>
            <a:r>
              <a:rPr lang="en-US" dirty="0" err="1"/>
              <a:t>ms.</a:t>
            </a:r>
            <a:r>
              <a:rPr lang="en-US" dirty="0"/>
              <a:t> PLD's zero GPU overhead confirmed experimentally. </a:t>
            </a:r>
            <a:r>
              <a:rPr lang="en-US" dirty="0" err="1"/>
              <a:t>Matmul</a:t>
            </a:r>
            <a:r>
              <a:rPr lang="en-US" dirty="0"/>
              <a:t> accounts for only 20% of CUDA time on T4.”</a:t>
            </a:r>
          </a:p>
          <a:p>
            <a:endParaRPr lang="en-US" dirty="0"/>
          </a:p>
          <a:p>
            <a:r>
              <a:rPr lang="en-US" dirty="0"/>
              <a:t>"Fifth: </a:t>
            </a:r>
            <a:r>
              <a:rPr lang="en-US" i="1" dirty="0"/>
              <a:t>deployment insight</a:t>
            </a:r>
            <a:r>
              <a:rPr lang="en-US" dirty="0"/>
              <a:t> — tree methods require hardware-specific artifacts and engineering; linear SD and PLD are framework-portable.”</a:t>
            </a:r>
          </a:p>
          <a:p>
            <a:endParaRPr lang="en-US" dirty="0"/>
          </a:p>
          <a:p>
            <a:r>
              <a:rPr lang="en-US" i="1" dirty="0"/>
              <a:t>[point to the punchline banner]</a:t>
            </a:r>
          </a:p>
          <a:p>
            <a:endParaRPr lang="en-US" dirty="0"/>
          </a:p>
          <a:p>
            <a:r>
              <a:rPr lang="en-US" dirty="0"/>
              <a:t>"The final report, due next week, will include continued work on adapting the Sequoia tree optimizer for T4. But if you take one thing from this talk...”</a:t>
            </a:r>
          </a:p>
          <a:p>
            <a:endParaRPr lang="en-US" dirty="0"/>
          </a:p>
          <a:p>
            <a:r>
              <a:rPr lang="en-US" i="1" dirty="0"/>
              <a:t>[slow down, make eye contact]</a:t>
            </a:r>
          </a:p>
          <a:p>
            <a:endParaRPr lang="en-US" dirty="0"/>
          </a:p>
          <a:p>
            <a:r>
              <a:rPr lang="en-US" dirty="0"/>
              <a:t>"</a:t>
            </a:r>
            <a:r>
              <a:rPr lang="en-US" b="1" dirty="0"/>
              <a:t>Measure your cost ratio. Don't trust parameter counts.</a:t>
            </a:r>
            <a:r>
              <a:rPr lang="en-US" dirty="0"/>
              <a:t>”</a:t>
            </a:r>
          </a:p>
          <a:p>
            <a:endParaRPr lang="en-US" dirty="0"/>
          </a:p>
          <a:p>
            <a:r>
              <a:rPr lang="en-US" dirty="0"/>
              <a:t>"Thank you.”</a:t>
            </a:r>
          </a:p>
          <a:p>
            <a:endParaRPr lang="en-US" dirty="0"/>
          </a:p>
          <a:p>
            <a:r>
              <a:rPr lang="en-US" i="1" dirty="0"/>
              <a:t>[stop. don't add anything. let the silence work.]</a:t>
            </a:r>
          </a:p>
          <a:p>
            <a:endParaRPr lang="en-US" dirty="0"/>
          </a:p>
          <a:p>
            <a:r>
              <a:rPr lang="en-US" b="1" dirty="0"/>
              <a:t>[Self-note: If there's a Q&amp;A, likely questions are: (1) "Why not implement SD from scratch?" — Answer: my contribution is the cross-family comparison and the analytical framework, not reimplementing algorithms. I used standard implementations to ensure reproducibility and focused engineering effort on measurement infrastructure. (2) "How generalizable are these results to other hardware?" — The specific numbers are T4-specific, but the methodology and framework generalize. The key insight — measure cost ratio, don't assume from params — applies to any hardware. (3) "What about batch sizes &gt; 1?" — All my experiments are batch=1 (latency-focused). At larger batches, the dynamics change because compute utilization increases and the bandwidth bottleneck eases. That's future work. (4) "What about Medusa/Hydra?" — I scope them out of this study because they require model-specific training (extra prediction heads), which is a fundamentally different tradeoff. I mention them in the report as single-model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731520"/>
            <a:ext cx="7680960" cy="1828800"/>
          </a:xfrm>
          <a:prstGeom prst="rect">
            <a:avLst/>
          </a:prstGeom>
          <a:noFill/>
          <a:ln/>
        </p:spPr>
        <p:txBody>
          <a:bodyPr wrap="square" lIns="0" tIns="0" rIns="0" bIns="0" rtlCol="0" anchor="ctr"/>
          <a:lstStyle/>
          <a:p>
            <a:pPr marL="0" indent="0">
              <a:lnSpc>
                <a:spcPct val="110000"/>
              </a:lnSpc>
              <a:buNone/>
            </a:pPr>
            <a:r>
              <a:rPr lang="en-US" sz="4000" b="1" dirty="0">
                <a:solidFill>
                  <a:srgbClr val="FFFFFF"/>
                </a:solidFill>
                <a:latin typeface="Trebuchet MS" pitchFamily="34" charset="0"/>
                <a:ea typeface="Trebuchet MS" pitchFamily="34" charset="-122"/>
                <a:cs typeface="Trebuchet MS" pitchFamily="34" charset="-120"/>
              </a:rPr>
              <a:t>A Systems Study of</a:t>
            </a:r>
            <a:endParaRPr lang="en-US" sz="4000" dirty="0"/>
          </a:p>
          <a:p>
            <a:pPr marL="0" indent="0">
              <a:lnSpc>
                <a:spcPct val="110000"/>
              </a:lnSpc>
              <a:buNone/>
            </a:pPr>
            <a:r>
              <a:rPr lang="en-US" sz="4000" b="1" dirty="0">
                <a:solidFill>
                  <a:srgbClr val="FFFFFF"/>
                </a:solidFill>
                <a:latin typeface="Trebuchet MS" pitchFamily="34" charset="0"/>
                <a:ea typeface="Trebuchet MS" pitchFamily="34" charset="-122"/>
                <a:cs typeface="Trebuchet MS" pitchFamily="34" charset="-120"/>
              </a:rPr>
              <a:t>Speculative Decoding</a:t>
            </a:r>
            <a:endParaRPr lang="en-US" sz="4000" dirty="0"/>
          </a:p>
        </p:txBody>
      </p:sp>
      <p:sp>
        <p:nvSpPr>
          <p:cNvPr id="4" name="Text 2"/>
          <p:cNvSpPr/>
          <p:nvPr/>
        </p:nvSpPr>
        <p:spPr>
          <a:xfrm>
            <a:off x="731520" y="2468880"/>
            <a:ext cx="7680960" cy="457200"/>
          </a:xfrm>
          <a:prstGeom prst="rect">
            <a:avLst/>
          </a:prstGeom>
          <a:noFill/>
          <a:ln/>
        </p:spPr>
        <p:txBody>
          <a:bodyPr wrap="square" lIns="0" tIns="0" rIns="0" bIns="0" rtlCol="0" anchor="ctr"/>
          <a:lstStyle/>
          <a:p>
            <a:pPr marL="0" indent="0">
              <a:buNone/>
            </a:pPr>
            <a:r>
              <a:rPr lang="en-US" sz="2200" dirty="0">
                <a:solidFill>
                  <a:srgbClr val="CADCFC"/>
                </a:solidFill>
                <a:latin typeface="Calibri" pitchFamily="34" charset="0"/>
                <a:ea typeface="Calibri" pitchFamily="34" charset="-122"/>
                <a:cs typeface="Calibri" pitchFamily="34" charset="-120"/>
              </a:rPr>
              <a:t>for Large Language Model Inference</a:t>
            </a:r>
            <a:endParaRPr lang="en-US" sz="2200" dirty="0"/>
          </a:p>
        </p:txBody>
      </p:sp>
      <p:sp>
        <p:nvSpPr>
          <p:cNvPr id="5" name="Shape 3"/>
          <p:cNvSpPr/>
          <p:nvPr/>
        </p:nvSpPr>
        <p:spPr>
          <a:xfrm>
            <a:off x="731520" y="3200400"/>
            <a:ext cx="7680960" cy="64008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6" name="Shape 4"/>
          <p:cNvSpPr/>
          <p:nvPr/>
        </p:nvSpPr>
        <p:spPr>
          <a:xfrm>
            <a:off x="731520" y="3200400"/>
            <a:ext cx="73152" cy="640080"/>
          </a:xfrm>
          <a:prstGeom prst="rect">
            <a:avLst/>
          </a:prstGeom>
          <a:solidFill>
            <a:srgbClr val="F59E0B"/>
          </a:solidFill>
          <a:ln/>
        </p:spPr>
        <p:txBody>
          <a:bodyPr/>
          <a:lstStyle/>
          <a:p>
            <a:endParaRPr lang="en-US"/>
          </a:p>
        </p:txBody>
      </p:sp>
      <p:sp>
        <p:nvSpPr>
          <p:cNvPr id="7" name="Text 5"/>
          <p:cNvSpPr/>
          <p:nvPr/>
        </p:nvSpPr>
        <p:spPr>
          <a:xfrm>
            <a:off x="1005840" y="3246120"/>
            <a:ext cx="7132320" cy="548640"/>
          </a:xfrm>
          <a:prstGeom prst="rect">
            <a:avLst/>
          </a:prstGeom>
          <a:noFill/>
          <a:ln/>
        </p:spPr>
        <p:txBody>
          <a:bodyPr wrap="square" lIns="0" tIns="0" rIns="0" bIns="0" rtlCol="0" anchor="ctr"/>
          <a:lstStyle/>
          <a:p>
            <a:pPr marL="0" indent="0">
              <a:buNone/>
            </a:pPr>
            <a:r>
              <a:rPr lang="en-US" sz="1600" i="1" dirty="0">
                <a:solidFill>
                  <a:srgbClr val="F59E0B"/>
                </a:solidFill>
                <a:latin typeface="Calibri" pitchFamily="34" charset="0"/>
                <a:ea typeface="Calibri" pitchFamily="34" charset="-122"/>
                <a:cs typeface="Calibri" pitchFamily="34" charset="-120"/>
              </a:rPr>
              <a:t>Promised 2–3× speedup.  Measured 8% slowdown.  This talk explains why.</a:t>
            </a:r>
            <a:endParaRPr lang="en-US" sz="1600" dirty="0"/>
          </a:p>
        </p:txBody>
      </p:sp>
      <p:sp>
        <p:nvSpPr>
          <p:cNvPr id="8" name="Shape 6"/>
          <p:cNvSpPr/>
          <p:nvPr/>
        </p:nvSpPr>
        <p:spPr>
          <a:xfrm>
            <a:off x="731520" y="4114800"/>
            <a:ext cx="2286000" cy="0"/>
          </a:xfrm>
          <a:prstGeom prst="line">
            <a:avLst/>
          </a:prstGeom>
          <a:noFill/>
          <a:ln w="31750">
            <a:solidFill>
              <a:srgbClr val="0891B2"/>
            </a:solidFill>
            <a:prstDash val="solid"/>
          </a:ln>
        </p:spPr>
        <p:txBody>
          <a:bodyPr/>
          <a:lstStyle/>
          <a:p>
            <a:endParaRPr lang="en-US"/>
          </a:p>
        </p:txBody>
      </p:sp>
      <p:sp>
        <p:nvSpPr>
          <p:cNvPr id="9" name="Text 7"/>
          <p:cNvSpPr/>
          <p:nvPr/>
        </p:nvSpPr>
        <p:spPr>
          <a:xfrm>
            <a:off x="731520" y="4297680"/>
            <a:ext cx="73152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Zanwen Fu  |  Duke University  |  CS 590 ML Systems</a:t>
            </a:r>
            <a:endParaRPr lang="en-US" sz="1400" dirty="0"/>
          </a:p>
        </p:txBody>
      </p:sp>
      <p:sp>
        <p:nvSpPr>
          <p:cNvPr id="10" name="Text 8"/>
          <p:cNvSpPr/>
          <p:nvPr/>
        </p:nvSpPr>
        <p:spPr>
          <a:xfrm>
            <a:off x="731520" y="4663440"/>
            <a:ext cx="7315200" cy="274320"/>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April 9,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74320"/>
            <a:ext cx="8229600" cy="54864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The Autoregressive Bottleneck</a:t>
            </a:r>
            <a:endParaRPr lang="en-US" sz="3200" dirty="0"/>
          </a:p>
        </p:txBody>
      </p:sp>
      <p:sp>
        <p:nvSpPr>
          <p:cNvPr id="4" name="Shape 2"/>
          <p:cNvSpPr/>
          <p:nvPr/>
        </p:nvSpPr>
        <p:spPr>
          <a:xfrm>
            <a:off x="731520" y="1097280"/>
            <a:ext cx="3840480" cy="274320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1005840" y="1234440"/>
            <a:ext cx="365760" cy="365760"/>
          </a:xfrm>
          <a:prstGeom prst="rect">
            <a:avLst/>
          </a:prstGeom>
        </p:spPr>
      </p:pic>
      <p:sp>
        <p:nvSpPr>
          <p:cNvPr id="6" name="Text 3"/>
          <p:cNvSpPr/>
          <p:nvPr/>
        </p:nvSpPr>
        <p:spPr>
          <a:xfrm>
            <a:off x="1463040" y="1234440"/>
            <a:ext cx="2743200" cy="365760"/>
          </a:xfrm>
          <a:prstGeom prst="rect">
            <a:avLst/>
          </a:prstGeom>
          <a:noFill/>
          <a:ln/>
        </p:spPr>
        <p:txBody>
          <a:bodyPr wrap="square" lIns="0" tIns="0" rIns="0" bIns="0" rtlCol="0" anchor="ctr"/>
          <a:lstStyle/>
          <a:p>
            <a:pPr marL="0" indent="0">
              <a:buNone/>
            </a:pPr>
            <a:r>
              <a:rPr lang="en-US" sz="1600" b="1" dirty="0">
                <a:solidFill>
                  <a:srgbClr val="22D3EE"/>
                </a:solidFill>
                <a:latin typeface="Trebuchet MS" pitchFamily="34" charset="0"/>
                <a:ea typeface="Trebuchet MS" pitchFamily="34" charset="-122"/>
                <a:cs typeface="Trebuchet MS" pitchFamily="34" charset="-120"/>
              </a:rPr>
              <a:t>The Problem</a:t>
            </a:r>
            <a:endParaRPr lang="en-US" sz="1600" dirty="0"/>
          </a:p>
        </p:txBody>
      </p:sp>
      <p:sp>
        <p:nvSpPr>
          <p:cNvPr id="7" name="Text 4"/>
          <p:cNvSpPr/>
          <p:nvPr/>
        </p:nvSpPr>
        <p:spPr>
          <a:xfrm>
            <a:off x="1005840" y="1783080"/>
            <a:ext cx="3291840" cy="320040"/>
          </a:xfrm>
          <a:prstGeom prst="rect">
            <a:avLst/>
          </a:prstGeom>
          <a:noFill/>
          <a:ln/>
        </p:spPr>
        <p:txBody>
          <a:bodyPr wrap="square" lIns="0" tIns="0" rIns="0" bIns="0" rtlCol="0" anchor="ctr"/>
          <a:lstStyle/>
          <a:p>
            <a:pPr marL="0" indent="0">
              <a:buNone/>
            </a:pPr>
            <a:r>
              <a:rPr lang="en-US" sz="1100" dirty="0">
                <a:solidFill>
                  <a:srgbClr val="F59E0B"/>
                </a:solidFill>
                <a:latin typeface="Consolas" pitchFamily="34" charset="0"/>
                <a:ea typeface="Consolas" pitchFamily="34" charset="-122"/>
                <a:cs typeface="Consolas" pitchFamily="34" charset="-120"/>
              </a:rPr>
              <a:t>Token₁ → Token₂ → Token₃ → Token₄ → ...</a:t>
            </a:r>
            <a:endParaRPr lang="en-US" sz="1100" dirty="0"/>
          </a:p>
        </p:txBody>
      </p:sp>
      <p:sp>
        <p:nvSpPr>
          <p:cNvPr id="8" name="Text 5"/>
          <p:cNvSpPr/>
          <p:nvPr/>
        </p:nvSpPr>
        <p:spPr>
          <a:xfrm>
            <a:off x="1005840" y="2286000"/>
            <a:ext cx="329184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One token = one full forward pass</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Memory-bandwidth bound at batch size 1</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GPU compute vastly underutilized</a:t>
            </a:r>
            <a:endParaRPr lang="en-US" sz="1300" dirty="0"/>
          </a:p>
        </p:txBody>
      </p:sp>
      <p:sp>
        <p:nvSpPr>
          <p:cNvPr id="9" name="Shape 6"/>
          <p:cNvSpPr/>
          <p:nvPr/>
        </p:nvSpPr>
        <p:spPr>
          <a:xfrm>
            <a:off x="4846320" y="1097280"/>
            <a:ext cx="3840480" cy="274320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5120640" y="1234440"/>
            <a:ext cx="365760" cy="365760"/>
          </a:xfrm>
          <a:prstGeom prst="rect">
            <a:avLst/>
          </a:prstGeom>
        </p:spPr>
      </p:pic>
      <p:sp>
        <p:nvSpPr>
          <p:cNvPr id="11" name="Text 7"/>
          <p:cNvSpPr/>
          <p:nvPr/>
        </p:nvSpPr>
        <p:spPr>
          <a:xfrm>
            <a:off x="5577840" y="1234440"/>
            <a:ext cx="2926080" cy="365760"/>
          </a:xfrm>
          <a:prstGeom prst="rect">
            <a:avLst/>
          </a:prstGeom>
          <a:noFill/>
          <a:ln/>
        </p:spPr>
        <p:txBody>
          <a:bodyPr wrap="square" lIns="0" tIns="0" rIns="0" bIns="0" rtlCol="0" anchor="ctr"/>
          <a:lstStyle/>
          <a:p>
            <a:pPr marL="0" indent="0">
              <a:buNone/>
            </a:pPr>
            <a:r>
              <a:rPr lang="en-US" sz="1600" b="1" dirty="0">
                <a:solidFill>
                  <a:srgbClr val="22D3EE"/>
                </a:solidFill>
                <a:latin typeface="Trebuchet MS" pitchFamily="34" charset="0"/>
                <a:ea typeface="Trebuchet MS" pitchFamily="34" charset="-122"/>
                <a:cs typeface="Trebuchet MS" pitchFamily="34" charset="-120"/>
              </a:rPr>
              <a:t>Speculative Decoding</a:t>
            </a:r>
            <a:endParaRPr lang="en-US" sz="1600" dirty="0"/>
          </a:p>
        </p:txBody>
      </p:sp>
      <p:sp>
        <p:nvSpPr>
          <p:cNvPr id="12" name="Text 8"/>
          <p:cNvSpPr/>
          <p:nvPr/>
        </p:nvSpPr>
        <p:spPr>
          <a:xfrm>
            <a:off x="5120640" y="1783080"/>
            <a:ext cx="3291840" cy="320040"/>
          </a:xfrm>
          <a:prstGeom prst="rect">
            <a:avLst/>
          </a:prstGeom>
          <a:noFill/>
          <a:ln/>
        </p:spPr>
        <p:txBody>
          <a:bodyPr wrap="square" lIns="0" tIns="0" rIns="0" bIns="0" rtlCol="0" anchor="ctr"/>
          <a:lstStyle/>
          <a:p>
            <a:pPr marL="0" indent="0">
              <a:buNone/>
            </a:pPr>
            <a:r>
              <a:rPr lang="en-US" sz="1000" dirty="0">
                <a:solidFill>
                  <a:srgbClr val="10B981"/>
                </a:solidFill>
                <a:latin typeface="Consolas" pitchFamily="34" charset="0"/>
                <a:ea typeface="Consolas" pitchFamily="34" charset="-122"/>
                <a:cs typeface="Consolas" pitchFamily="34" charset="-120"/>
              </a:rPr>
              <a:t>Draft [T₁ T₂ T₃ T₄ T₅] → Verify [✓ ✓ ✓ ✗] → Accept 3</a:t>
            </a:r>
            <a:endParaRPr lang="en-US" sz="1000" dirty="0"/>
          </a:p>
        </p:txBody>
      </p:sp>
      <p:sp>
        <p:nvSpPr>
          <p:cNvPr id="13" name="Text 9"/>
          <p:cNvSpPr/>
          <p:nvPr/>
        </p:nvSpPr>
        <p:spPr>
          <a:xfrm>
            <a:off x="5120640" y="2286000"/>
            <a:ext cx="329184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Draft multiple tokens cheaply</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Target verifies all in one pass</a:t>
            </a:r>
            <a:endParaRPr lang="en-US" sz="1300" dirty="0"/>
          </a:p>
          <a:p>
            <a:pPr marL="342900" indent="-342900">
              <a:spcAft>
                <a:spcPts val="600"/>
              </a:spcAft>
              <a:buSzPct val="100000"/>
              <a:buChar char="•"/>
            </a:pPr>
            <a:r>
              <a:rPr lang="en-US" sz="1300" dirty="0">
                <a:solidFill>
                  <a:srgbClr val="CADCFC"/>
                </a:solidFill>
                <a:latin typeface="Calibri" pitchFamily="34" charset="0"/>
                <a:ea typeface="Calibri" pitchFamily="34" charset="-122"/>
                <a:cs typeface="Calibri" pitchFamily="34" charset="-120"/>
              </a:rPr>
              <a:t>Preserves exact output distribution</a:t>
            </a:r>
            <a:endParaRPr lang="en-US" sz="1300" dirty="0"/>
          </a:p>
        </p:txBody>
      </p:sp>
      <p:sp>
        <p:nvSpPr>
          <p:cNvPr id="14" name="Shape 10"/>
          <p:cNvSpPr/>
          <p:nvPr/>
        </p:nvSpPr>
        <p:spPr>
          <a:xfrm>
            <a:off x="731520" y="4114800"/>
            <a:ext cx="7955280" cy="64008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15" name="Shape 11"/>
          <p:cNvSpPr/>
          <p:nvPr/>
        </p:nvSpPr>
        <p:spPr>
          <a:xfrm>
            <a:off x="731520" y="4114800"/>
            <a:ext cx="73152" cy="640080"/>
          </a:xfrm>
          <a:prstGeom prst="rect">
            <a:avLst/>
          </a:prstGeom>
          <a:solidFill>
            <a:srgbClr val="0891B2"/>
          </a:solidFill>
          <a:ln/>
        </p:spPr>
        <p:txBody>
          <a:bodyPr/>
          <a:lstStyle/>
          <a:p>
            <a:endParaRPr lang="en-US"/>
          </a:p>
        </p:txBody>
      </p:sp>
      <p:sp>
        <p:nvSpPr>
          <p:cNvPr id="16" name="Text 12"/>
          <p:cNvSpPr/>
          <p:nvPr/>
        </p:nvSpPr>
        <p:spPr>
          <a:xfrm>
            <a:off x="1005840" y="4160520"/>
            <a:ext cx="7406640" cy="54864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Verification is parallelizable. How you generate candidates is the design choice that differentiates methods.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18288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Three Families of Speculative Decoding</a:t>
            </a:r>
            <a:endParaRPr lang="en-US" sz="2800" dirty="0"/>
          </a:p>
        </p:txBody>
      </p:sp>
      <p:sp>
        <p:nvSpPr>
          <p:cNvPr id="4" name="Shape 2"/>
          <p:cNvSpPr/>
          <p:nvPr/>
        </p:nvSpPr>
        <p:spPr>
          <a:xfrm>
            <a:off x="731520" y="822960"/>
            <a:ext cx="2468880" cy="30175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5" name="Shape 3"/>
          <p:cNvSpPr/>
          <p:nvPr/>
        </p:nvSpPr>
        <p:spPr>
          <a:xfrm>
            <a:off x="731520" y="822960"/>
            <a:ext cx="2468880" cy="54864"/>
          </a:xfrm>
          <a:prstGeom prst="rect">
            <a:avLst/>
          </a:prstGeom>
          <a:solidFill>
            <a:srgbClr val="0891B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691640" y="1005840"/>
            <a:ext cx="411480" cy="411480"/>
          </a:xfrm>
          <a:prstGeom prst="rect">
            <a:avLst/>
          </a:prstGeom>
        </p:spPr>
      </p:pic>
      <p:sp>
        <p:nvSpPr>
          <p:cNvPr id="7" name="Text 4"/>
          <p:cNvSpPr/>
          <p:nvPr/>
        </p:nvSpPr>
        <p:spPr>
          <a:xfrm>
            <a:off x="731520" y="1508760"/>
            <a:ext cx="24688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Linear Draft-Verify</a:t>
            </a:r>
            <a:endParaRPr lang="en-US" sz="1300" dirty="0"/>
          </a:p>
        </p:txBody>
      </p:sp>
      <p:sp>
        <p:nvSpPr>
          <p:cNvPr id="8" name="Text 5"/>
          <p:cNvSpPr/>
          <p:nvPr/>
        </p:nvSpPr>
        <p:spPr>
          <a:xfrm>
            <a:off x="868680" y="1874520"/>
            <a:ext cx="2194560" cy="16459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Small LM drafts k tokens</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Target verifies in 1 pass</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Overhead: GPU (draft model)</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KV rewind on rejection</a:t>
            </a:r>
            <a:endParaRPr lang="en-US" sz="1100" dirty="0"/>
          </a:p>
        </p:txBody>
      </p:sp>
      <p:sp>
        <p:nvSpPr>
          <p:cNvPr id="9" name="Text 6"/>
          <p:cNvSpPr/>
          <p:nvPr/>
        </p:nvSpPr>
        <p:spPr>
          <a:xfrm>
            <a:off x="731520" y="3520440"/>
            <a:ext cx="2468880" cy="27432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[Leviathan+ 2023]</a:t>
            </a:r>
            <a:endParaRPr lang="en-US" sz="900" dirty="0"/>
          </a:p>
        </p:txBody>
      </p:sp>
      <p:sp>
        <p:nvSpPr>
          <p:cNvPr id="10" name="Shape 7"/>
          <p:cNvSpPr/>
          <p:nvPr/>
        </p:nvSpPr>
        <p:spPr>
          <a:xfrm>
            <a:off x="3474720" y="822960"/>
            <a:ext cx="2468880" cy="30175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11" name="Shape 8"/>
          <p:cNvSpPr/>
          <p:nvPr/>
        </p:nvSpPr>
        <p:spPr>
          <a:xfrm>
            <a:off x="3474720" y="822960"/>
            <a:ext cx="2468880" cy="54864"/>
          </a:xfrm>
          <a:prstGeom prst="rect">
            <a:avLst/>
          </a:prstGeom>
          <a:solidFill>
            <a:srgbClr val="F59E0B"/>
          </a:solidFill>
          <a:ln/>
        </p:spPr>
        <p:txBody>
          <a:bodyPr/>
          <a:lstStyle/>
          <a:p>
            <a:endParaRPr lang="en-US"/>
          </a:p>
        </p:txBody>
      </p:sp>
      <p:pic>
        <p:nvPicPr>
          <p:cNvPr id="12" name="Image 1" descr="preencoded.png"/>
          <p:cNvPicPr>
            <a:picLocks noChangeAspect="1"/>
          </p:cNvPicPr>
          <p:nvPr/>
        </p:nvPicPr>
        <p:blipFill>
          <a:blip r:embed="rId4"/>
          <a:stretch>
            <a:fillRect/>
          </a:stretch>
        </p:blipFill>
        <p:spPr>
          <a:xfrm>
            <a:off x="4434840" y="1005840"/>
            <a:ext cx="411480" cy="411480"/>
          </a:xfrm>
          <a:prstGeom prst="rect">
            <a:avLst/>
          </a:prstGeom>
        </p:spPr>
      </p:pic>
      <p:sp>
        <p:nvSpPr>
          <p:cNvPr id="13" name="Text 9"/>
          <p:cNvSpPr/>
          <p:nvPr/>
        </p:nvSpPr>
        <p:spPr>
          <a:xfrm>
            <a:off x="3474720" y="1508760"/>
            <a:ext cx="24688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Tree-Structured</a:t>
            </a:r>
            <a:endParaRPr lang="en-US" sz="1300" dirty="0"/>
          </a:p>
        </p:txBody>
      </p:sp>
      <p:sp>
        <p:nvSpPr>
          <p:cNvPr id="14" name="Text 10"/>
          <p:cNvSpPr/>
          <p:nvPr/>
        </p:nvSpPr>
        <p:spPr>
          <a:xfrm>
            <a:off x="3611880" y="1874520"/>
            <a:ext cx="2194560" cy="16459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Explore multiple paths (tree)</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DP-optimized topology</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Overhead: tree KV-cache</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Selective branch pruning</a:t>
            </a:r>
            <a:endParaRPr lang="en-US" sz="1100" dirty="0"/>
          </a:p>
        </p:txBody>
      </p:sp>
      <p:sp>
        <p:nvSpPr>
          <p:cNvPr id="15" name="Text 11"/>
          <p:cNvSpPr/>
          <p:nvPr/>
        </p:nvSpPr>
        <p:spPr>
          <a:xfrm>
            <a:off x="3474720" y="3520440"/>
            <a:ext cx="2468880" cy="27432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[SpecInfer 2024, Sequoia 2024]</a:t>
            </a:r>
            <a:endParaRPr lang="en-US" sz="900" dirty="0"/>
          </a:p>
        </p:txBody>
      </p:sp>
      <p:sp>
        <p:nvSpPr>
          <p:cNvPr id="16" name="Shape 12"/>
          <p:cNvSpPr/>
          <p:nvPr/>
        </p:nvSpPr>
        <p:spPr>
          <a:xfrm>
            <a:off x="6217920" y="822960"/>
            <a:ext cx="2468880" cy="30175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17" name="Shape 13"/>
          <p:cNvSpPr/>
          <p:nvPr/>
        </p:nvSpPr>
        <p:spPr>
          <a:xfrm>
            <a:off x="6217920" y="822960"/>
            <a:ext cx="2468880" cy="54864"/>
          </a:xfrm>
          <a:prstGeom prst="rect">
            <a:avLst/>
          </a:prstGeom>
          <a:solidFill>
            <a:srgbClr val="10B981"/>
          </a:solidFill>
          <a:ln/>
        </p:spPr>
        <p:txBody>
          <a:bodyPr/>
          <a:lstStyle/>
          <a:p>
            <a:endParaRPr lang="en-US"/>
          </a:p>
        </p:txBody>
      </p:sp>
      <p:pic>
        <p:nvPicPr>
          <p:cNvPr id="18" name="Image 2" descr="preencoded.png"/>
          <p:cNvPicPr>
            <a:picLocks noChangeAspect="1"/>
          </p:cNvPicPr>
          <p:nvPr/>
        </p:nvPicPr>
        <p:blipFill>
          <a:blip r:embed="rId5"/>
          <a:stretch>
            <a:fillRect/>
          </a:stretch>
        </p:blipFill>
        <p:spPr>
          <a:xfrm>
            <a:off x="7178040" y="1005840"/>
            <a:ext cx="411480" cy="411480"/>
          </a:xfrm>
          <a:prstGeom prst="rect">
            <a:avLst/>
          </a:prstGeom>
        </p:spPr>
      </p:pic>
      <p:sp>
        <p:nvSpPr>
          <p:cNvPr id="19" name="Text 14"/>
          <p:cNvSpPr/>
          <p:nvPr/>
        </p:nvSpPr>
        <p:spPr>
          <a:xfrm>
            <a:off x="6217920" y="1508760"/>
            <a:ext cx="246888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Retrieval-Based</a:t>
            </a:r>
            <a:endParaRPr lang="en-US" sz="1300" dirty="0"/>
          </a:p>
        </p:txBody>
      </p:sp>
      <p:sp>
        <p:nvSpPr>
          <p:cNvPr id="20" name="Text 15"/>
          <p:cNvSpPr/>
          <p:nvPr/>
        </p:nvSpPr>
        <p:spPr>
          <a:xfrm>
            <a:off x="6355080" y="1874520"/>
            <a:ext cx="2194560" cy="164592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N-gram / suffix matching</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No draft model needed</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Overhead: CPU only</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Domain-dependent gains</a:t>
            </a:r>
            <a:endParaRPr lang="en-US" sz="1100" dirty="0"/>
          </a:p>
        </p:txBody>
      </p:sp>
      <p:sp>
        <p:nvSpPr>
          <p:cNvPr id="21" name="Text 16"/>
          <p:cNvSpPr/>
          <p:nvPr/>
        </p:nvSpPr>
        <p:spPr>
          <a:xfrm>
            <a:off x="6217920" y="3520440"/>
            <a:ext cx="2468880" cy="274320"/>
          </a:xfrm>
          <a:prstGeom prst="rect">
            <a:avLst/>
          </a:prstGeom>
          <a:noFill/>
          <a:ln/>
        </p:spPr>
        <p:txBody>
          <a:bodyPr wrap="square" lIns="0" tIns="0" rIns="0" bIns="0"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[PLD 2023, REST 2024, SAM 2024]</a:t>
            </a:r>
            <a:endParaRPr lang="en-US" sz="900" dirty="0"/>
          </a:p>
        </p:txBody>
      </p:sp>
      <p:sp>
        <p:nvSpPr>
          <p:cNvPr id="22" name="Shape 17"/>
          <p:cNvSpPr/>
          <p:nvPr/>
        </p:nvSpPr>
        <p:spPr>
          <a:xfrm>
            <a:off x="731520" y="4114800"/>
            <a:ext cx="7955280" cy="7315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23" name="Shape 18"/>
          <p:cNvSpPr/>
          <p:nvPr/>
        </p:nvSpPr>
        <p:spPr>
          <a:xfrm>
            <a:off x="731520" y="4114800"/>
            <a:ext cx="73152" cy="731520"/>
          </a:xfrm>
          <a:prstGeom prst="rect">
            <a:avLst/>
          </a:prstGeom>
          <a:solidFill>
            <a:srgbClr val="0891B2"/>
          </a:solidFill>
          <a:ln/>
        </p:spPr>
        <p:txBody>
          <a:bodyPr/>
          <a:lstStyle/>
          <a:p>
            <a:endParaRPr lang="en-US"/>
          </a:p>
        </p:txBody>
      </p:sp>
      <p:sp>
        <p:nvSpPr>
          <p:cNvPr id="24" name="Text 19"/>
          <p:cNvSpPr/>
          <p:nvPr/>
        </p:nvSpPr>
        <p:spPr>
          <a:xfrm>
            <a:off x="1005840" y="4160520"/>
            <a:ext cx="7406640" cy="640080"/>
          </a:xfrm>
          <a:prstGeom prst="rect">
            <a:avLst/>
          </a:prstGeom>
          <a:noFill/>
          <a:ln/>
        </p:spPr>
        <p:txBody>
          <a:bodyPr wrap="square" lIns="0" tIns="0" rIns="0" bIns="0" rtlCol="0" anchor="ctr"/>
          <a:lstStyle/>
          <a:p>
            <a:pPr marL="0" indent="0">
              <a:buNone/>
            </a:pPr>
            <a:r>
              <a:rPr lang="en-US" sz="1200" b="1" dirty="0">
                <a:solidFill>
                  <a:srgbClr val="22D3EE"/>
                </a:solidFill>
                <a:latin typeface="Calibri" pitchFamily="34" charset="0"/>
                <a:ea typeface="Calibri" pitchFamily="34" charset="-122"/>
                <a:cs typeface="Calibri" pitchFamily="34" charset="-120"/>
              </a:rPr>
              <a:t>Prior work evaluates each family in isolation. This study is the first to compare all three under a unified cost model, on the same hardware, with the same measurement methodology.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28600"/>
            <a:ext cx="8229600" cy="502920"/>
          </a:xfrm>
          <a:prstGeom prst="rect">
            <a:avLst/>
          </a:prstGeom>
          <a:noFill/>
          <a:ln/>
        </p:spPr>
        <p:txBody>
          <a:bodyPr wrap="square" lIns="0" tIns="0" rIns="0" bIns="0" rtlCol="0" anchor="ctr"/>
          <a:lstStyle/>
          <a:p>
            <a:pPr marL="0" indent="0">
              <a:buNone/>
            </a:pPr>
            <a:r>
              <a:rPr lang="en-US" sz="3000" b="1" dirty="0">
                <a:solidFill>
                  <a:srgbClr val="1E293B"/>
                </a:solidFill>
                <a:latin typeface="Trebuchet MS" pitchFamily="34" charset="0"/>
                <a:ea typeface="Trebuchet MS" pitchFamily="34" charset="-122"/>
                <a:cs typeface="Trebuchet MS" pitchFamily="34" charset="-120"/>
              </a:rPr>
              <a:t>Unified Theoretical Framework</a:t>
            </a:r>
            <a:endParaRPr lang="en-US" sz="3000" dirty="0"/>
          </a:p>
        </p:txBody>
      </p:sp>
      <p:sp>
        <p:nvSpPr>
          <p:cNvPr id="4" name="Text 2"/>
          <p:cNvSpPr/>
          <p:nvPr/>
        </p:nvSpPr>
        <p:spPr>
          <a:xfrm>
            <a:off x="731520" y="731520"/>
            <a:ext cx="7315200" cy="274320"/>
          </a:xfrm>
          <a:prstGeom prst="rect">
            <a:avLst/>
          </a:prstGeom>
          <a:noFill/>
          <a:ln/>
        </p:spPr>
        <p:txBody>
          <a:bodyPr wrap="square" lIns="0" tIns="0" rIns="0" bIns="0"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Each family bets on a different system resource being cheap.</a:t>
            </a:r>
            <a:endParaRPr lang="en-US" sz="1300" dirty="0"/>
          </a:p>
        </p:txBody>
      </p:sp>
      <p:sp>
        <p:nvSpPr>
          <p:cNvPr id="5" name="Shape 3"/>
          <p:cNvSpPr/>
          <p:nvPr/>
        </p:nvSpPr>
        <p:spPr>
          <a:xfrm>
            <a:off x="731520" y="1188720"/>
            <a:ext cx="6217920" cy="96012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6" name="Shape 4"/>
          <p:cNvSpPr/>
          <p:nvPr/>
        </p:nvSpPr>
        <p:spPr>
          <a:xfrm>
            <a:off x="731520" y="1188720"/>
            <a:ext cx="73152" cy="960120"/>
          </a:xfrm>
          <a:prstGeom prst="rect">
            <a:avLst/>
          </a:prstGeom>
          <a:solidFill>
            <a:srgbClr val="0891B2"/>
          </a:solidFill>
          <a:ln/>
        </p:spPr>
        <p:txBody>
          <a:bodyPr/>
          <a:lstStyle/>
          <a:p>
            <a:endParaRPr lang="en-US"/>
          </a:p>
        </p:txBody>
      </p:sp>
      <p:sp>
        <p:nvSpPr>
          <p:cNvPr id="7" name="Text 5"/>
          <p:cNvSpPr/>
          <p:nvPr/>
        </p:nvSpPr>
        <p:spPr>
          <a:xfrm>
            <a:off x="914400" y="1261872"/>
            <a:ext cx="1097280" cy="228600"/>
          </a:xfrm>
          <a:prstGeom prst="rect">
            <a:avLst/>
          </a:prstGeom>
          <a:noFill/>
          <a:ln/>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Linear</a:t>
            </a:r>
            <a:endParaRPr lang="en-US" sz="1200" dirty="0"/>
          </a:p>
        </p:txBody>
      </p:sp>
      <p:sp>
        <p:nvSpPr>
          <p:cNvPr id="8" name="Text 6"/>
          <p:cNvSpPr/>
          <p:nvPr/>
        </p:nvSpPr>
        <p:spPr>
          <a:xfrm>
            <a:off x="1645920" y="1261872"/>
            <a:ext cx="4114800" cy="320040"/>
          </a:xfrm>
          <a:prstGeom prst="rect">
            <a:avLst/>
          </a:prstGeom>
          <a:noFill/>
          <a:ln/>
        </p:spPr>
        <p:txBody>
          <a:bodyPr wrap="square" lIns="0" tIns="0" rIns="0" bIns="0" rtlCol="0" anchor="ctr"/>
          <a:lstStyle/>
          <a:p>
            <a:pPr marL="0" indent="0">
              <a:buNone/>
            </a:pPr>
            <a:r>
              <a:rPr lang="en-US" sz="1400" dirty="0">
                <a:solidFill>
                  <a:srgbClr val="1E293B"/>
                </a:solidFill>
                <a:latin typeface="Consolas" pitchFamily="34" charset="0"/>
                <a:ea typeface="Consolas" pitchFamily="34" charset="-122"/>
                <a:cs typeface="Consolas" pitchFamily="34" charset="-120"/>
              </a:rPr>
              <a:t>S = αk · Ct / (k·Cd + Ct + Csys)</a:t>
            </a:r>
            <a:endParaRPr lang="en-US" sz="1400" dirty="0"/>
          </a:p>
        </p:txBody>
      </p:sp>
      <p:sp>
        <p:nvSpPr>
          <p:cNvPr id="9" name="Text 7"/>
          <p:cNvSpPr/>
          <p:nvPr/>
        </p:nvSpPr>
        <p:spPr>
          <a:xfrm>
            <a:off x="1645920" y="1691640"/>
            <a:ext cx="438912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Draft cost Cd dominates. Cd/Ct is the first-order variable.</a:t>
            </a:r>
            <a:endParaRPr lang="en-US" sz="1000" dirty="0"/>
          </a:p>
        </p:txBody>
      </p:sp>
      <p:sp>
        <p:nvSpPr>
          <p:cNvPr id="10" name="Shape 8"/>
          <p:cNvSpPr/>
          <p:nvPr/>
        </p:nvSpPr>
        <p:spPr>
          <a:xfrm>
            <a:off x="7132320" y="1371600"/>
            <a:ext cx="1645920" cy="548640"/>
          </a:xfrm>
          <a:prstGeom prst="rect">
            <a:avLst/>
          </a:prstGeom>
          <a:solidFill>
            <a:srgbClr val="0891B2"/>
          </a:solidFill>
          <a:ln/>
          <a:effectLst>
            <a:outerShdw blurRad="50800" dist="25400" dir="8100000" algn="bl" rotWithShape="0">
              <a:srgbClr val="000000">
                <a:alpha val="20000"/>
              </a:srgbClr>
            </a:outerShdw>
          </a:effectLst>
        </p:spPr>
        <p:txBody>
          <a:bodyPr/>
          <a:lstStyle/>
          <a:p>
            <a:endParaRPr lang="en-US"/>
          </a:p>
        </p:txBody>
      </p:sp>
      <p:sp>
        <p:nvSpPr>
          <p:cNvPr id="11" name="Text 9"/>
          <p:cNvSpPr/>
          <p:nvPr/>
        </p:nvSpPr>
        <p:spPr>
          <a:xfrm>
            <a:off x="7132320" y="1371600"/>
            <a:ext cx="164592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Bottleneck:</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Cd (GPU)</a:t>
            </a:r>
            <a:endParaRPr lang="en-US" sz="1100" dirty="0"/>
          </a:p>
        </p:txBody>
      </p:sp>
      <p:sp>
        <p:nvSpPr>
          <p:cNvPr id="12" name="Shape 10"/>
          <p:cNvSpPr/>
          <p:nvPr/>
        </p:nvSpPr>
        <p:spPr>
          <a:xfrm>
            <a:off x="731520" y="2286000"/>
            <a:ext cx="6217920" cy="96012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13" name="Shape 11"/>
          <p:cNvSpPr/>
          <p:nvPr/>
        </p:nvSpPr>
        <p:spPr>
          <a:xfrm>
            <a:off x="731520" y="2286000"/>
            <a:ext cx="73152" cy="960120"/>
          </a:xfrm>
          <a:prstGeom prst="rect">
            <a:avLst/>
          </a:prstGeom>
          <a:solidFill>
            <a:srgbClr val="F59E0B"/>
          </a:solidFill>
          <a:ln/>
        </p:spPr>
        <p:txBody>
          <a:bodyPr/>
          <a:lstStyle/>
          <a:p>
            <a:endParaRPr lang="en-US"/>
          </a:p>
        </p:txBody>
      </p:sp>
      <p:sp>
        <p:nvSpPr>
          <p:cNvPr id="14" name="Text 12"/>
          <p:cNvSpPr/>
          <p:nvPr/>
        </p:nvSpPr>
        <p:spPr>
          <a:xfrm>
            <a:off x="914400" y="2359152"/>
            <a:ext cx="1097280" cy="228600"/>
          </a:xfrm>
          <a:prstGeom prst="rect">
            <a:avLst/>
          </a:prstGeom>
          <a:noFill/>
          <a:ln/>
        </p:spPr>
        <p:txBody>
          <a:bodyPr wrap="square" lIns="0" tIns="0" rIns="0" bIns="0" rtlCol="0" anchor="ctr"/>
          <a:lstStyle/>
          <a:p>
            <a:pPr marL="0" indent="0">
              <a:buNone/>
            </a:pPr>
            <a:r>
              <a:rPr lang="en-US" sz="1200" b="1" dirty="0">
                <a:solidFill>
                  <a:srgbClr val="F59E0B"/>
                </a:solidFill>
                <a:latin typeface="Trebuchet MS" pitchFamily="34" charset="0"/>
                <a:ea typeface="Trebuchet MS" pitchFamily="34" charset="-122"/>
                <a:cs typeface="Trebuchet MS" pitchFamily="34" charset="-120"/>
              </a:rPr>
              <a:t>Tree</a:t>
            </a:r>
            <a:endParaRPr lang="en-US" sz="1200" dirty="0"/>
          </a:p>
        </p:txBody>
      </p:sp>
      <p:sp>
        <p:nvSpPr>
          <p:cNvPr id="15" name="Text 13"/>
          <p:cNvSpPr/>
          <p:nvPr/>
        </p:nvSpPr>
        <p:spPr>
          <a:xfrm>
            <a:off x="1645920" y="2359152"/>
            <a:ext cx="4754880" cy="320040"/>
          </a:xfrm>
          <a:prstGeom prst="rect">
            <a:avLst/>
          </a:prstGeom>
          <a:noFill/>
          <a:ln/>
        </p:spPr>
        <p:txBody>
          <a:bodyPr wrap="square" lIns="0" tIns="0" rIns="0" bIns="0" rtlCol="0" anchor="ctr"/>
          <a:lstStyle/>
          <a:p>
            <a:pPr marL="0" indent="0">
              <a:buNone/>
            </a:pPr>
            <a:r>
              <a:rPr lang="en-US" sz="1300" dirty="0">
                <a:solidFill>
                  <a:srgbClr val="1E293B"/>
                </a:solidFill>
                <a:latin typeface="Consolas" pitchFamily="34" charset="0"/>
                <a:ea typeface="Consolas" pitchFamily="34" charset="-122"/>
                <a:cs typeface="Consolas" pitchFamily="34" charset="-120"/>
              </a:rPr>
              <a:t>S = E[τ(n)] · Ct / (Cd_tree(n) + Ct_tree(n) + Csys_tree)</a:t>
            </a:r>
            <a:endParaRPr lang="en-US" sz="1300" dirty="0"/>
          </a:p>
        </p:txBody>
      </p:sp>
      <p:sp>
        <p:nvSpPr>
          <p:cNvPr id="16" name="Text 14"/>
          <p:cNvSpPr/>
          <p:nvPr/>
        </p:nvSpPr>
        <p:spPr>
          <a:xfrm>
            <a:off x="1645920" y="2788920"/>
            <a:ext cx="438912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Verification cost grows with tree size n. Diminishing returns beyond HW-optimal n.</a:t>
            </a:r>
            <a:endParaRPr lang="en-US" sz="1000" dirty="0"/>
          </a:p>
        </p:txBody>
      </p:sp>
      <p:sp>
        <p:nvSpPr>
          <p:cNvPr id="17" name="Shape 15"/>
          <p:cNvSpPr/>
          <p:nvPr/>
        </p:nvSpPr>
        <p:spPr>
          <a:xfrm>
            <a:off x="7132320" y="2468880"/>
            <a:ext cx="1645920" cy="548640"/>
          </a:xfrm>
          <a:prstGeom prst="rect">
            <a:avLst/>
          </a:prstGeom>
          <a:solidFill>
            <a:srgbClr val="F59E0B"/>
          </a:solidFill>
          <a:ln/>
          <a:effectLst>
            <a:outerShdw blurRad="50800" dist="25400" dir="8100000" algn="bl" rotWithShape="0">
              <a:srgbClr val="000000">
                <a:alpha val="20000"/>
              </a:srgbClr>
            </a:outerShdw>
          </a:effectLst>
        </p:spPr>
        <p:txBody>
          <a:bodyPr/>
          <a:lstStyle/>
          <a:p>
            <a:endParaRPr lang="en-US"/>
          </a:p>
        </p:txBody>
      </p:sp>
      <p:sp>
        <p:nvSpPr>
          <p:cNvPr id="18" name="Text 16"/>
          <p:cNvSpPr/>
          <p:nvPr/>
        </p:nvSpPr>
        <p:spPr>
          <a:xfrm>
            <a:off x="7132320" y="2468880"/>
            <a:ext cx="164592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Bottleneck:</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Ct_tree(n)</a:t>
            </a:r>
            <a:endParaRPr lang="en-US" sz="1100" dirty="0"/>
          </a:p>
        </p:txBody>
      </p:sp>
      <p:sp>
        <p:nvSpPr>
          <p:cNvPr id="19" name="Shape 17"/>
          <p:cNvSpPr/>
          <p:nvPr/>
        </p:nvSpPr>
        <p:spPr>
          <a:xfrm>
            <a:off x="731520" y="3383280"/>
            <a:ext cx="6217920" cy="96012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20" name="Shape 18"/>
          <p:cNvSpPr/>
          <p:nvPr/>
        </p:nvSpPr>
        <p:spPr>
          <a:xfrm>
            <a:off x="731520" y="3383280"/>
            <a:ext cx="73152" cy="960120"/>
          </a:xfrm>
          <a:prstGeom prst="rect">
            <a:avLst/>
          </a:prstGeom>
          <a:solidFill>
            <a:srgbClr val="10B981"/>
          </a:solidFill>
          <a:ln/>
        </p:spPr>
        <p:txBody>
          <a:bodyPr/>
          <a:lstStyle/>
          <a:p>
            <a:endParaRPr lang="en-US"/>
          </a:p>
        </p:txBody>
      </p:sp>
      <p:sp>
        <p:nvSpPr>
          <p:cNvPr id="21" name="Text 19"/>
          <p:cNvSpPr/>
          <p:nvPr/>
        </p:nvSpPr>
        <p:spPr>
          <a:xfrm>
            <a:off x="914400" y="3456432"/>
            <a:ext cx="1097280" cy="228600"/>
          </a:xfrm>
          <a:prstGeom prst="rect">
            <a:avLst/>
          </a:prstGeom>
          <a:noFill/>
          <a:ln/>
        </p:spPr>
        <p:txBody>
          <a:bodyPr wrap="square" lIns="0" tIns="0" rIns="0" bIns="0" rtlCol="0" anchor="ctr"/>
          <a:lstStyle/>
          <a:p>
            <a:pPr marL="0" indent="0">
              <a:buNone/>
            </a:pPr>
            <a:r>
              <a:rPr lang="en-US" sz="1200" b="1" dirty="0">
                <a:solidFill>
                  <a:srgbClr val="10B981"/>
                </a:solidFill>
                <a:latin typeface="Trebuchet MS" pitchFamily="34" charset="0"/>
                <a:ea typeface="Trebuchet MS" pitchFamily="34" charset="-122"/>
                <a:cs typeface="Trebuchet MS" pitchFamily="34" charset="-120"/>
              </a:rPr>
              <a:t>Retrieval</a:t>
            </a:r>
            <a:endParaRPr lang="en-US" sz="1200" dirty="0"/>
          </a:p>
        </p:txBody>
      </p:sp>
      <p:sp>
        <p:nvSpPr>
          <p:cNvPr id="22" name="Text 20"/>
          <p:cNvSpPr/>
          <p:nvPr/>
        </p:nvSpPr>
        <p:spPr>
          <a:xfrm>
            <a:off x="1645920" y="3456432"/>
            <a:ext cx="4114800" cy="320040"/>
          </a:xfrm>
          <a:prstGeom prst="rect">
            <a:avLst/>
          </a:prstGeom>
          <a:noFill/>
          <a:ln/>
        </p:spPr>
        <p:txBody>
          <a:bodyPr wrap="square" lIns="0" tIns="0" rIns="0" bIns="0" rtlCol="0" anchor="ctr"/>
          <a:lstStyle/>
          <a:p>
            <a:pPr marL="0" indent="0">
              <a:buNone/>
            </a:pPr>
            <a:r>
              <a:rPr lang="en-US" sz="1400" dirty="0">
                <a:solidFill>
                  <a:srgbClr val="1E293B"/>
                </a:solidFill>
                <a:latin typeface="Consolas" pitchFamily="34" charset="0"/>
                <a:ea typeface="Consolas" pitchFamily="34" charset="-122"/>
                <a:cs typeface="Consolas" pitchFamily="34" charset="-120"/>
              </a:rPr>
              <a:t>S = E[τr] · Ct / (Cr + Ct_ret(m))</a:t>
            </a:r>
            <a:endParaRPr lang="en-US" sz="1400" dirty="0"/>
          </a:p>
        </p:txBody>
      </p:sp>
      <p:sp>
        <p:nvSpPr>
          <p:cNvPr id="23" name="Text 21"/>
          <p:cNvSpPr/>
          <p:nvPr/>
        </p:nvSpPr>
        <p:spPr>
          <a:xfrm>
            <a:off x="1645920" y="3886200"/>
            <a:ext cx="4389120" cy="27432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Cr is CPU-bound (≈ 0 on GPU). Domain-dependent acceptance rate.</a:t>
            </a:r>
            <a:endParaRPr lang="en-US" sz="1000" dirty="0"/>
          </a:p>
        </p:txBody>
      </p:sp>
      <p:sp>
        <p:nvSpPr>
          <p:cNvPr id="24" name="Shape 22"/>
          <p:cNvSpPr/>
          <p:nvPr/>
        </p:nvSpPr>
        <p:spPr>
          <a:xfrm>
            <a:off x="7132320" y="3566160"/>
            <a:ext cx="1645920" cy="548640"/>
          </a:xfrm>
          <a:prstGeom prst="rect">
            <a:avLst/>
          </a:prstGeom>
          <a:solidFill>
            <a:srgbClr val="10B981"/>
          </a:solidFill>
          <a:ln/>
          <a:effectLst>
            <a:outerShdw blurRad="50800" dist="25400" dir="8100000" algn="bl" rotWithShape="0">
              <a:srgbClr val="000000">
                <a:alpha val="20000"/>
              </a:srgbClr>
            </a:outerShdw>
          </a:effectLst>
        </p:spPr>
        <p:txBody>
          <a:bodyPr/>
          <a:lstStyle/>
          <a:p>
            <a:endParaRPr lang="en-US"/>
          </a:p>
        </p:txBody>
      </p:sp>
      <p:sp>
        <p:nvSpPr>
          <p:cNvPr id="25" name="Text 23"/>
          <p:cNvSpPr/>
          <p:nvPr/>
        </p:nvSpPr>
        <p:spPr>
          <a:xfrm>
            <a:off x="7132320" y="3566160"/>
            <a:ext cx="1645920" cy="5486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Bottleneck:</a:t>
            </a:r>
            <a:endParaRPr lang="en-US" sz="1100" dirty="0"/>
          </a:p>
          <a:p>
            <a:pPr marL="0" indent="0" algn="ctr">
              <a:buNone/>
            </a:pPr>
            <a:r>
              <a:rPr lang="en-US" sz="1100" b="1" dirty="0">
                <a:solidFill>
                  <a:srgbClr val="FFFFFF"/>
                </a:solidFill>
                <a:latin typeface="Trebuchet MS" pitchFamily="34" charset="0"/>
                <a:ea typeface="Trebuchet MS" pitchFamily="34" charset="-122"/>
                <a:cs typeface="Trebuchet MS" pitchFamily="34" charset="-120"/>
              </a:rPr>
              <a:t>Cr ≈ 0 (CPU)</a:t>
            </a:r>
            <a:endParaRPr lang="en-US" sz="1100" dirty="0"/>
          </a:p>
        </p:txBody>
      </p:sp>
      <p:sp>
        <p:nvSpPr>
          <p:cNvPr id="26" name="Text 24"/>
          <p:cNvSpPr/>
          <p:nvPr/>
        </p:nvSpPr>
        <p:spPr>
          <a:xfrm>
            <a:off x="731520" y="4434840"/>
            <a:ext cx="7680960" cy="32004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Eq. 1–2 adapted from Leviathan+ 2023 and Chen+ 2024. Unified notation, cross-family Csys analysis, and empirical validation are my contributions.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74320"/>
            <a:ext cx="822960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Experimental Setup</a:t>
            </a:r>
            <a:endParaRPr lang="en-US" sz="3000" dirty="0"/>
          </a:p>
        </p:txBody>
      </p:sp>
      <p:sp>
        <p:nvSpPr>
          <p:cNvPr id="4" name="Shape 2"/>
          <p:cNvSpPr/>
          <p:nvPr/>
        </p:nvSpPr>
        <p:spPr>
          <a:xfrm>
            <a:off x="731520" y="1005840"/>
            <a:ext cx="2468880" cy="34747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914400" y="1143000"/>
            <a:ext cx="274320" cy="274320"/>
          </a:xfrm>
          <a:prstGeom prst="rect">
            <a:avLst/>
          </a:prstGeom>
        </p:spPr>
      </p:pic>
      <p:sp>
        <p:nvSpPr>
          <p:cNvPr id="6" name="Text 3"/>
          <p:cNvSpPr/>
          <p:nvPr/>
        </p:nvSpPr>
        <p:spPr>
          <a:xfrm>
            <a:off x="1280160" y="1143000"/>
            <a:ext cx="1737360" cy="274320"/>
          </a:xfrm>
          <a:prstGeom prst="rect">
            <a:avLst/>
          </a:prstGeom>
          <a:noFill/>
          <a:ln/>
        </p:spPr>
        <p:txBody>
          <a:bodyPr wrap="square" lIns="0" tIns="0" rIns="0" bIns="0" rtlCol="0" anchor="ctr"/>
          <a:lstStyle/>
          <a:p>
            <a:pPr marL="0" indent="0">
              <a:buNone/>
            </a:pPr>
            <a:r>
              <a:rPr lang="en-US" sz="1200" b="1" dirty="0">
                <a:solidFill>
                  <a:srgbClr val="22D3EE"/>
                </a:solidFill>
                <a:latin typeface="Trebuchet MS" pitchFamily="34" charset="0"/>
                <a:ea typeface="Trebuchet MS" pitchFamily="34" charset="-122"/>
                <a:cs typeface="Trebuchet MS" pitchFamily="34" charset="-120"/>
              </a:rPr>
              <a:t>Hardware &amp; Models</a:t>
            </a:r>
            <a:endParaRPr lang="en-US" sz="1200" dirty="0"/>
          </a:p>
        </p:txBody>
      </p:sp>
      <p:sp>
        <p:nvSpPr>
          <p:cNvPr id="7" name="Text 4"/>
          <p:cNvSpPr/>
          <p:nvPr/>
        </p:nvSpPr>
        <p:spPr>
          <a:xfrm>
            <a:off x="868680" y="1554480"/>
            <a:ext cx="2194560" cy="2743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NVIDIA T4 (16 GB, ~300 GB/s)</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CUDA 12.8, PyTorch 2.10</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Target: Llama-3.2-3B (fp16)</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Draft: Llama-3.2-1B (fp16)</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Alt: Llama-3.1-8B (4-bit)</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Param ratios: 0.33 / 0.125</a:t>
            </a:r>
            <a:endParaRPr lang="en-US" sz="1100" dirty="0"/>
          </a:p>
        </p:txBody>
      </p:sp>
      <p:sp>
        <p:nvSpPr>
          <p:cNvPr id="8" name="Shape 5"/>
          <p:cNvSpPr/>
          <p:nvPr/>
        </p:nvSpPr>
        <p:spPr>
          <a:xfrm>
            <a:off x="3429000" y="1005840"/>
            <a:ext cx="2468880" cy="34747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3611880" y="1143000"/>
            <a:ext cx="274320" cy="274320"/>
          </a:xfrm>
          <a:prstGeom prst="rect">
            <a:avLst/>
          </a:prstGeom>
        </p:spPr>
      </p:pic>
      <p:sp>
        <p:nvSpPr>
          <p:cNvPr id="10" name="Text 6"/>
          <p:cNvSpPr/>
          <p:nvPr/>
        </p:nvSpPr>
        <p:spPr>
          <a:xfrm>
            <a:off x="3977640" y="1143000"/>
            <a:ext cx="1737360" cy="274320"/>
          </a:xfrm>
          <a:prstGeom prst="rect">
            <a:avLst/>
          </a:prstGeom>
          <a:noFill/>
          <a:ln/>
        </p:spPr>
        <p:txBody>
          <a:bodyPr wrap="square" lIns="0" tIns="0" rIns="0" bIns="0" rtlCol="0" anchor="ctr"/>
          <a:lstStyle/>
          <a:p>
            <a:pPr marL="0" indent="0">
              <a:buNone/>
            </a:pPr>
            <a:r>
              <a:rPr lang="en-US" sz="1200" b="1" dirty="0">
                <a:solidFill>
                  <a:srgbClr val="22D3EE"/>
                </a:solidFill>
                <a:latin typeface="Trebuchet MS" pitchFamily="34" charset="0"/>
                <a:ea typeface="Trebuchet MS" pitchFamily="34" charset="-122"/>
                <a:cs typeface="Trebuchet MS" pitchFamily="34" charset="-120"/>
              </a:rPr>
              <a:t>Methodology</a:t>
            </a:r>
            <a:endParaRPr lang="en-US" sz="1200" dirty="0"/>
          </a:p>
        </p:txBody>
      </p:sp>
      <p:sp>
        <p:nvSpPr>
          <p:cNvPr id="11" name="Text 7"/>
          <p:cNvSpPr/>
          <p:nvPr/>
        </p:nvSpPr>
        <p:spPr>
          <a:xfrm>
            <a:off x="3566160" y="1554480"/>
            <a:ext cx="2194560" cy="2743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30 trials + 3 warmup / config</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Explicit CUDA synchronization</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k ∈ {3, 5, 7, 10}</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n ∈ {3, 5, 7, 10}</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T ∈ {0.0, 0.6, 0.8}</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10 prompts × 5 categories</a:t>
            </a:r>
            <a:endParaRPr lang="en-US" sz="1100" dirty="0"/>
          </a:p>
        </p:txBody>
      </p:sp>
      <p:sp>
        <p:nvSpPr>
          <p:cNvPr id="12" name="Shape 8"/>
          <p:cNvSpPr/>
          <p:nvPr/>
        </p:nvSpPr>
        <p:spPr>
          <a:xfrm>
            <a:off x="6126480" y="1005840"/>
            <a:ext cx="2468880" cy="34747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6309360" y="1143000"/>
            <a:ext cx="274320" cy="274320"/>
          </a:xfrm>
          <a:prstGeom prst="rect">
            <a:avLst/>
          </a:prstGeom>
        </p:spPr>
      </p:pic>
      <p:sp>
        <p:nvSpPr>
          <p:cNvPr id="14" name="Text 9"/>
          <p:cNvSpPr/>
          <p:nvPr/>
        </p:nvSpPr>
        <p:spPr>
          <a:xfrm>
            <a:off x="6675120" y="1143000"/>
            <a:ext cx="1737360" cy="274320"/>
          </a:xfrm>
          <a:prstGeom prst="rect">
            <a:avLst/>
          </a:prstGeom>
          <a:noFill/>
          <a:ln/>
        </p:spPr>
        <p:txBody>
          <a:bodyPr wrap="square" lIns="0" tIns="0" rIns="0" bIns="0" rtlCol="0" anchor="ctr"/>
          <a:lstStyle/>
          <a:p>
            <a:pPr marL="0" indent="0">
              <a:buNone/>
            </a:pPr>
            <a:r>
              <a:rPr lang="en-US" sz="1200" b="1" dirty="0">
                <a:solidFill>
                  <a:srgbClr val="22D3EE"/>
                </a:solidFill>
                <a:latin typeface="Trebuchet MS" pitchFamily="34" charset="0"/>
                <a:ea typeface="Trebuchet MS" pitchFamily="34" charset="-122"/>
                <a:cs typeface="Trebuchet MS" pitchFamily="34" charset="-120"/>
              </a:rPr>
              <a:t>Engineering Rigor</a:t>
            </a:r>
            <a:endParaRPr lang="en-US" sz="1200" dirty="0"/>
          </a:p>
        </p:txBody>
      </p:sp>
      <p:sp>
        <p:nvSpPr>
          <p:cNvPr id="15" name="Text 10"/>
          <p:cNvSpPr/>
          <p:nvPr/>
        </p:nvSpPr>
        <p:spPr>
          <a:xfrm>
            <a:off x="6263640" y="1554480"/>
            <a:ext cx="2194560" cy="274320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Custom SD loop for per-iteration α measurement</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Version-safe profiler (PT 2.10 API changes)</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CUDA event categorization (matmul, memory, attention)</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Chrome trace export for kernel-level inspection</a:t>
            </a:r>
            <a:endParaRPr lang="en-US" sz="1100" dirty="0"/>
          </a:p>
          <a:p>
            <a:pPr marL="342900" indent="-342900">
              <a:spcAft>
                <a:spcPts val="400"/>
              </a:spcAft>
              <a:buSzPct val="100000"/>
              <a:buChar char="•"/>
            </a:pPr>
            <a:r>
              <a:rPr lang="en-US" sz="1100" dirty="0">
                <a:solidFill>
                  <a:srgbClr val="F59E0B"/>
                </a:solidFill>
                <a:latin typeface="Calibri" pitchFamily="34" charset="0"/>
                <a:ea typeface="Calibri" pitchFamily="34" charset="-122"/>
                <a:cs typeface="Calibri" pitchFamily="34" charset="-120"/>
              </a:rPr>
              <a:t>~10 Sequoia porting attempts with source patches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74320"/>
            <a:ext cx="8229600" cy="50292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Cross-Family Speedup Comparison (Greedy, T4)</a:t>
            </a:r>
            <a:endParaRPr lang="en-US" sz="2600" dirty="0"/>
          </a:p>
        </p:txBody>
      </p:sp>
      <p:graphicFrame>
        <p:nvGraphicFramePr>
          <p:cNvPr id="4" name="Chart 0"/>
          <p:cNvGraphicFramePr/>
          <p:nvPr/>
        </p:nvGraphicFramePr>
        <p:xfrm>
          <a:off x="274320" y="868680"/>
          <a:ext cx="53035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274320" y="4297680"/>
            <a:ext cx="2286000" cy="182880"/>
          </a:xfrm>
          <a:prstGeom prst="rect">
            <a:avLst/>
          </a:prstGeom>
          <a:noFill/>
          <a:ln/>
        </p:spPr>
        <p:txBody>
          <a:bodyPr wrap="square" lIns="0" tIns="0" rIns="0" bIns="0" rtlCol="0" anchor="ctr"/>
          <a:lstStyle/>
          <a:p>
            <a:pPr marL="0" indent="0">
              <a:buNone/>
            </a:pPr>
            <a:r>
              <a:rPr lang="en-US" sz="900" dirty="0">
                <a:solidFill>
                  <a:srgbClr val="94A3B8"/>
                </a:solidFill>
                <a:latin typeface="Calibri" pitchFamily="34" charset="0"/>
                <a:ea typeface="Calibri" pitchFamily="34" charset="-122"/>
                <a:cs typeface="Calibri" pitchFamily="34" charset="-120"/>
              </a:rPr>
              <a:t>── 1.0× break-even line</a:t>
            </a:r>
            <a:endParaRPr lang="en-US" sz="900" dirty="0"/>
          </a:p>
        </p:txBody>
      </p:sp>
      <p:sp>
        <p:nvSpPr>
          <p:cNvPr id="6" name="Shape 3"/>
          <p:cNvSpPr/>
          <p:nvPr/>
        </p:nvSpPr>
        <p:spPr>
          <a:xfrm>
            <a:off x="5760720" y="868680"/>
            <a:ext cx="3108960" cy="356616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7" name="Text 4"/>
          <p:cNvSpPr/>
          <p:nvPr/>
        </p:nvSpPr>
        <p:spPr>
          <a:xfrm>
            <a:off x="5943600" y="1005840"/>
            <a:ext cx="2743200" cy="274320"/>
          </a:xfrm>
          <a:prstGeom prst="rect">
            <a:avLst/>
          </a:prstGeom>
          <a:noFill/>
          <a:ln/>
        </p:spPr>
        <p:txBody>
          <a:bodyPr wrap="square" lIns="0" tIns="0" rIns="0" bIns="0" rtlCol="0" anchor="ctr"/>
          <a:lstStyle/>
          <a:p>
            <a:pPr marL="0" indent="0">
              <a:buNone/>
            </a:pPr>
            <a:r>
              <a:rPr lang="en-US" sz="1500" b="1" dirty="0">
                <a:solidFill>
                  <a:srgbClr val="0891B2"/>
                </a:solidFill>
                <a:latin typeface="Trebuchet MS" pitchFamily="34" charset="0"/>
                <a:ea typeface="Trebuchet MS" pitchFamily="34" charset="-122"/>
                <a:cs typeface="Trebuchet MS" pitchFamily="34" charset="-120"/>
              </a:rPr>
              <a:t>Key Findings</a:t>
            </a:r>
            <a:endParaRPr lang="en-US" sz="1500" dirty="0"/>
          </a:p>
        </p:txBody>
      </p:sp>
      <p:pic>
        <p:nvPicPr>
          <p:cNvPr id="8" name="Image 0" descr="preencoded.png"/>
          <p:cNvPicPr>
            <a:picLocks noChangeAspect="1"/>
          </p:cNvPicPr>
          <p:nvPr/>
        </p:nvPicPr>
        <p:blipFill>
          <a:blip r:embed="rId4"/>
          <a:stretch>
            <a:fillRect/>
          </a:stretch>
        </p:blipFill>
        <p:spPr>
          <a:xfrm>
            <a:off x="5943600" y="1417320"/>
            <a:ext cx="228600" cy="228600"/>
          </a:xfrm>
          <a:prstGeom prst="rect">
            <a:avLst/>
          </a:prstGeom>
        </p:spPr>
      </p:pic>
      <p:sp>
        <p:nvSpPr>
          <p:cNvPr id="9" name="Text 5"/>
          <p:cNvSpPr/>
          <p:nvPr/>
        </p:nvSpPr>
        <p:spPr>
          <a:xfrm>
            <a:off x="6263640" y="1417320"/>
            <a:ext cx="2468880" cy="256032"/>
          </a:xfrm>
          <a:prstGeom prst="rect">
            <a:avLst/>
          </a:prstGeom>
          <a:noFill/>
          <a:ln/>
        </p:spPr>
        <p:txBody>
          <a:bodyPr wrap="square" lIns="0" tIns="0" rIns="0" bIns="0" rtlCol="0" anchor="ctr"/>
          <a:lstStyle/>
          <a:p>
            <a:pPr marL="0" indent="0">
              <a:buNone/>
            </a:pPr>
            <a:r>
              <a:rPr lang="en-US" sz="1100" b="1" dirty="0">
                <a:solidFill>
                  <a:srgbClr val="EF4444"/>
                </a:solidFill>
                <a:latin typeface="Calibri" pitchFamily="34" charset="0"/>
                <a:ea typeface="Calibri" pitchFamily="34" charset="-122"/>
                <a:cs typeface="Calibri" pitchFamily="34" charset="-120"/>
              </a:rPr>
              <a:t>Linear SD: up to 8% slowdown</a:t>
            </a:r>
            <a:endParaRPr lang="en-US" sz="1100" dirty="0"/>
          </a:p>
        </p:txBody>
      </p:sp>
      <p:sp>
        <p:nvSpPr>
          <p:cNvPr id="10" name="Text 6"/>
          <p:cNvSpPr/>
          <p:nvPr/>
        </p:nvSpPr>
        <p:spPr>
          <a:xfrm>
            <a:off x="6263640" y="1691640"/>
            <a:ext cx="2468880" cy="4114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Measured Cd/Ct = 0.596</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(nearly 2× the param ratio of 0.333)</a:t>
            </a:r>
            <a:endParaRPr lang="en-US" sz="1000" dirty="0"/>
          </a:p>
        </p:txBody>
      </p:sp>
      <p:pic>
        <p:nvPicPr>
          <p:cNvPr id="11" name="Image 1" descr="preencoded.png"/>
          <p:cNvPicPr>
            <a:picLocks noChangeAspect="1"/>
          </p:cNvPicPr>
          <p:nvPr/>
        </p:nvPicPr>
        <p:blipFill>
          <a:blip r:embed="rId5"/>
          <a:stretch>
            <a:fillRect/>
          </a:stretch>
        </p:blipFill>
        <p:spPr>
          <a:xfrm>
            <a:off x="5943600" y="2286000"/>
            <a:ext cx="228600" cy="228600"/>
          </a:xfrm>
          <a:prstGeom prst="rect">
            <a:avLst/>
          </a:prstGeom>
        </p:spPr>
      </p:pic>
      <p:sp>
        <p:nvSpPr>
          <p:cNvPr id="12" name="Text 7"/>
          <p:cNvSpPr/>
          <p:nvPr/>
        </p:nvSpPr>
        <p:spPr>
          <a:xfrm>
            <a:off x="6263640" y="2286000"/>
            <a:ext cx="2468880" cy="256032"/>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PLD: 1.28–1.39× speedup</a:t>
            </a:r>
            <a:endParaRPr lang="en-US" sz="1100" dirty="0"/>
          </a:p>
        </p:txBody>
      </p:sp>
      <p:sp>
        <p:nvSpPr>
          <p:cNvPr id="13" name="Text 8"/>
          <p:cNvSpPr/>
          <p:nvPr/>
        </p:nvSpPr>
        <p:spPr>
          <a:xfrm>
            <a:off x="6263640" y="2560320"/>
            <a:ext cx="2468880" cy="4114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Zero GPU memory overhead</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(8,945 MB vs 8,940 MB baseline)</a:t>
            </a:r>
            <a:endParaRPr lang="en-US" sz="1000" dirty="0"/>
          </a:p>
        </p:txBody>
      </p:sp>
      <p:pic>
        <p:nvPicPr>
          <p:cNvPr id="14" name="Image 2" descr="preencoded.png"/>
          <p:cNvPicPr>
            <a:picLocks noChangeAspect="1"/>
          </p:cNvPicPr>
          <p:nvPr/>
        </p:nvPicPr>
        <p:blipFill>
          <a:blip r:embed="rId6"/>
          <a:stretch>
            <a:fillRect/>
          </a:stretch>
        </p:blipFill>
        <p:spPr>
          <a:xfrm>
            <a:off x="5943600" y="3154680"/>
            <a:ext cx="228600" cy="228600"/>
          </a:xfrm>
          <a:prstGeom prst="rect">
            <a:avLst/>
          </a:prstGeom>
        </p:spPr>
      </p:pic>
      <p:sp>
        <p:nvSpPr>
          <p:cNvPr id="15" name="Text 9"/>
          <p:cNvSpPr/>
          <p:nvPr/>
        </p:nvSpPr>
        <p:spPr>
          <a:xfrm>
            <a:off x="6263640" y="3154680"/>
            <a:ext cx="2468880" cy="25603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Domain dependence</a:t>
            </a:r>
            <a:endParaRPr lang="en-US" sz="1100" dirty="0"/>
          </a:p>
        </p:txBody>
      </p:sp>
      <p:sp>
        <p:nvSpPr>
          <p:cNvPr id="16" name="Text 10"/>
          <p:cNvSpPr/>
          <p:nvPr/>
        </p:nvSpPr>
        <p:spPr>
          <a:xfrm>
            <a:off x="6263640" y="3429000"/>
            <a:ext cx="2468880" cy="41148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PLD: 1.00× to 2.61× per prompt</a:t>
            </a:r>
            <a:endParaRPr lang="en-US" sz="1000" dirty="0"/>
          </a:p>
          <a:p>
            <a:pPr marL="0" indent="0">
              <a:buNone/>
            </a:pPr>
            <a:r>
              <a:rPr lang="en-US" sz="1000" dirty="0">
                <a:solidFill>
                  <a:srgbClr val="94A3B8"/>
                </a:solidFill>
                <a:latin typeface="Calibri" pitchFamily="34" charset="0"/>
                <a:ea typeface="Calibri" pitchFamily="34" charset="-122"/>
                <a:cs typeface="Calibri" pitchFamily="34" charset="-120"/>
              </a:rPr>
              <a:t>Code prompts: 1.35× even with linear SD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743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Finding: The Quantization Trap</a:t>
            </a:r>
            <a:endParaRPr lang="en-US" sz="2800" dirty="0"/>
          </a:p>
        </p:txBody>
      </p:sp>
      <p:sp>
        <p:nvSpPr>
          <p:cNvPr id="4" name="Text 2"/>
          <p:cNvSpPr/>
          <p:nvPr/>
        </p:nvSpPr>
        <p:spPr>
          <a:xfrm>
            <a:off x="731520" y="777240"/>
            <a:ext cx="7315200" cy="274320"/>
          </a:xfrm>
          <a:prstGeom prst="rect">
            <a:avLst/>
          </a:prstGeom>
          <a:noFill/>
          <a:ln/>
        </p:spPr>
        <p:txBody>
          <a:bodyPr wrap="square" lIns="0" tIns="0" rIns="0" bIns="0" rtlCol="0" anchor="ctr"/>
          <a:lstStyle/>
          <a:p>
            <a:pPr marL="0" indent="0">
              <a:buNone/>
            </a:pPr>
            <a:r>
              <a:rPr lang="en-US" sz="1400" i="1" dirty="0">
                <a:solidFill>
                  <a:srgbClr val="F59E0B"/>
                </a:solidFill>
                <a:latin typeface="Calibri" pitchFamily="34" charset="0"/>
                <a:ea typeface="Calibri" pitchFamily="34" charset="-122"/>
                <a:cs typeface="Calibri" pitchFamily="34" charset="-120"/>
              </a:rPr>
              <a:t>Parameter ratio ≠ Cost ratio under quantization</a:t>
            </a:r>
            <a:endParaRPr lang="en-US" sz="1400" dirty="0"/>
          </a:p>
        </p:txBody>
      </p:sp>
      <p:sp>
        <p:nvSpPr>
          <p:cNvPr id="5" name="Shape 3"/>
          <p:cNvSpPr/>
          <p:nvPr/>
        </p:nvSpPr>
        <p:spPr>
          <a:xfrm>
            <a:off x="731520" y="1280160"/>
            <a:ext cx="3840480" cy="219456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6" name="Text 4"/>
          <p:cNvSpPr/>
          <p:nvPr/>
        </p:nvSpPr>
        <p:spPr>
          <a:xfrm>
            <a:off x="731520" y="1417320"/>
            <a:ext cx="3840480" cy="320040"/>
          </a:xfrm>
          <a:prstGeom prst="rect">
            <a:avLst/>
          </a:prstGeom>
          <a:noFill/>
          <a:ln/>
        </p:spPr>
        <p:txBody>
          <a:bodyPr wrap="square" lIns="0" tIns="0" rIns="0" bIns="0" rtlCol="0" anchor="ctr"/>
          <a:lstStyle/>
          <a:p>
            <a:pPr marL="0" indent="0" algn="ctr">
              <a:buNone/>
            </a:pPr>
            <a:r>
              <a:rPr lang="en-US" sz="1500" b="1" dirty="0">
                <a:solidFill>
                  <a:srgbClr val="CADCFC"/>
                </a:solidFill>
                <a:latin typeface="Trebuchet MS" pitchFamily="34" charset="0"/>
                <a:ea typeface="Trebuchet MS" pitchFamily="34" charset="-122"/>
                <a:cs typeface="Trebuchet MS" pitchFamily="34" charset="-120"/>
              </a:rPr>
              <a:t>1B / 3B (fp16)</a:t>
            </a:r>
            <a:endParaRPr lang="en-US" sz="1500" dirty="0"/>
          </a:p>
        </p:txBody>
      </p:sp>
      <p:sp>
        <p:nvSpPr>
          <p:cNvPr id="7" name="Text 5"/>
          <p:cNvSpPr/>
          <p:nvPr/>
        </p:nvSpPr>
        <p:spPr>
          <a:xfrm>
            <a:off x="1005840" y="1874520"/>
            <a:ext cx="3291840" cy="1463040"/>
          </a:xfrm>
          <a:prstGeom prst="rect">
            <a:avLst/>
          </a:prstGeom>
          <a:noFill/>
          <a:ln/>
        </p:spPr>
        <p:txBody>
          <a:bodyPr wrap="square" lIns="0" tIns="0" rIns="0" bIns="0" rtlCol="0" anchor="ctr"/>
          <a:lstStyle/>
          <a:p>
            <a:pPr marL="0" indent="0">
              <a:spcAft>
                <a:spcPts val="600"/>
              </a:spcAft>
              <a:buNone/>
            </a:pPr>
            <a:r>
              <a:rPr lang="en-US" sz="1300" dirty="0">
                <a:solidFill>
                  <a:srgbClr val="CADCFC"/>
                </a:solidFill>
                <a:latin typeface="Calibri" pitchFamily="34" charset="0"/>
                <a:ea typeface="Calibri" pitchFamily="34" charset="-122"/>
                <a:cs typeface="Calibri" pitchFamily="34" charset="-120"/>
              </a:rPr>
              <a:t>Param ratio: 0.333</a:t>
            </a:r>
            <a:endParaRPr lang="en-US" sz="1300" dirty="0"/>
          </a:p>
          <a:p>
            <a:pPr marL="0" indent="0">
              <a:spcAft>
                <a:spcPts val="600"/>
              </a:spcAft>
              <a:buNone/>
            </a:pPr>
            <a:r>
              <a:rPr lang="en-US" sz="1300" b="1" dirty="0">
                <a:solidFill>
                  <a:srgbClr val="F59E0B"/>
                </a:solidFill>
                <a:latin typeface="Calibri" pitchFamily="34" charset="0"/>
                <a:ea typeface="Calibri" pitchFamily="34" charset="-122"/>
                <a:cs typeface="Calibri" pitchFamily="34" charset="-120"/>
              </a:rPr>
              <a:t>Measured Cd/Ct: 0.596</a:t>
            </a:r>
            <a:endParaRPr lang="en-US" sz="1300" dirty="0"/>
          </a:p>
          <a:p>
            <a:pPr marL="0" indent="0">
              <a:spcAft>
                <a:spcPts val="600"/>
              </a:spcAft>
              <a:buNone/>
            </a:pPr>
            <a:r>
              <a:rPr lang="en-US" sz="1300" dirty="0">
                <a:solidFill>
                  <a:srgbClr val="EF4444"/>
                </a:solidFill>
                <a:latin typeface="Calibri" pitchFamily="34" charset="0"/>
                <a:ea typeface="Calibri" pitchFamily="34" charset="-122"/>
                <a:cs typeface="Calibri" pitchFamily="34" charset="-120"/>
              </a:rPr>
              <a:t>Best speedup: 1.01× (break-even)</a:t>
            </a:r>
            <a:endParaRPr lang="en-US" sz="1300" dirty="0"/>
          </a:p>
          <a:p>
            <a:pPr marL="0" indent="0">
              <a:spcAft>
                <a:spcPts val="600"/>
              </a:spcAft>
              <a:buNone/>
            </a:pPr>
            <a:r>
              <a:rPr lang="en-US" sz="1300" i="1" dirty="0">
                <a:solidFill>
                  <a:srgbClr val="94A3B8"/>
                </a:solidFill>
                <a:latin typeface="Calibri" pitchFamily="34" charset="0"/>
                <a:ea typeface="Calibri" pitchFamily="34" charset="-122"/>
                <a:cs typeface="Calibri" pitchFamily="34" charset="-120"/>
              </a:rPr>
              <a:t>Cost is ~2× what params predict</a:t>
            </a:r>
            <a:endParaRPr lang="en-US" sz="1300" dirty="0"/>
          </a:p>
        </p:txBody>
      </p:sp>
      <p:sp>
        <p:nvSpPr>
          <p:cNvPr id="8" name="Shape 6"/>
          <p:cNvSpPr/>
          <p:nvPr/>
        </p:nvSpPr>
        <p:spPr>
          <a:xfrm>
            <a:off x="4846320" y="1280160"/>
            <a:ext cx="3840480" cy="219456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9" name="Text 7"/>
          <p:cNvSpPr/>
          <p:nvPr/>
        </p:nvSpPr>
        <p:spPr>
          <a:xfrm>
            <a:off x="4846320" y="1417320"/>
            <a:ext cx="3840480" cy="320040"/>
          </a:xfrm>
          <a:prstGeom prst="rect">
            <a:avLst/>
          </a:prstGeom>
          <a:noFill/>
          <a:ln/>
        </p:spPr>
        <p:txBody>
          <a:bodyPr wrap="square" lIns="0" tIns="0" rIns="0" bIns="0" rtlCol="0" anchor="ctr"/>
          <a:lstStyle/>
          <a:p>
            <a:pPr marL="0" indent="0" algn="ctr">
              <a:buNone/>
            </a:pPr>
            <a:r>
              <a:rPr lang="en-US" sz="1500" b="1" dirty="0">
                <a:solidFill>
                  <a:srgbClr val="CADCFC"/>
                </a:solidFill>
                <a:latin typeface="Trebuchet MS" pitchFamily="34" charset="0"/>
                <a:ea typeface="Trebuchet MS" pitchFamily="34" charset="-122"/>
                <a:cs typeface="Trebuchet MS" pitchFamily="34" charset="-120"/>
              </a:rPr>
              <a:t>1B / 8B-4bit</a:t>
            </a:r>
            <a:endParaRPr lang="en-US" sz="1500" dirty="0"/>
          </a:p>
        </p:txBody>
      </p:sp>
      <p:sp>
        <p:nvSpPr>
          <p:cNvPr id="10" name="Text 8"/>
          <p:cNvSpPr/>
          <p:nvPr/>
        </p:nvSpPr>
        <p:spPr>
          <a:xfrm>
            <a:off x="5120640" y="1874520"/>
            <a:ext cx="3291840" cy="1463040"/>
          </a:xfrm>
          <a:prstGeom prst="rect">
            <a:avLst/>
          </a:prstGeom>
          <a:noFill/>
          <a:ln/>
        </p:spPr>
        <p:txBody>
          <a:bodyPr wrap="square" lIns="0" tIns="0" rIns="0" bIns="0" rtlCol="0" anchor="ctr"/>
          <a:lstStyle/>
          <a:p>
            <a:pPr marL="0" indent="0">
              <a:spcAft>
                <a:spcPts val="600"/>
              </a:spcAft>
              <a:buNone/>
            </a:pPr>
            <a:r>
              <a:rPr lang="en-US" sz="1300" dirty="0">
                <a:solidFill>
                  <a:srgbClr val="CADCFC"/>
                </a:solidFill>
                <a:latin typeface="Calibri" pitchFamily="34" charset="0"/>
                <a:ea typeface="Calibri" pitchFamily="34" charset="-122"/>
                <a:cs typeface="Calibri" pitchFamily="34" charset="-120"/>
              </a:rPr>
              <a:t>Param ratio: 0.125</a:t>
            </a:r>
            <a:endParaRPr lang="en-US" sz="1300" dirty="0"/>
          </a:p>
          <a:p>
            <a:pPr marL="0" indent="0">
              <a:spcAft>
                <a:spcPts val="600"/>
              </a:spcAft>
              <a:buNone/>
            </a:pPr>
            <a:r>
              <a:rPr lang="en-US" sz="1300" b="1" dirty="0">
                <a:solidFill>
                  <a:srgbClr val="EF4444"/>
                </a:solidFill>
                <a:latin typeface="Calibri" pitchFamily="34" charset="0"/>
                <a:ea typeface="Calibri" pitchFamily="34" charset="-122"/>
                <a:cs typeface="Calibri" pitchFamily="34" charset="-120"/>
              </a:rPr>
              <a:t>Effective cost ratio: HIGHER</a:t>
            </a:r>
            <a:endParaRPr lang="en-US" sz="1300" dirty="0"/>
          </a:p>
          <a:p>
            <a:pPr marL="0" indent="0">
              <a:spcAft>
                <a:spcPts val="600"/>
              </a:spcAft>
              <a:buNone/>
            </a:pPr>
            <a:r>
              <a:rPr lang="en-US" sz="1300" dirty="0">
                <a:solidFill>
                  <a:srgbClr val="EF4444"/>
                </a:solidFill>
                <a:latin typeface="Calibri" pitchFamily="34" charset="0"/>
                <a:ea typeface="Calibri" pitchFamily="34" charset="-122"/>
                <a:cs typeface="Calibri" pitchFamily="34" charset="-120"/>
              </a:rPr>
              <a:t>Best speedup: 0.95× (still slowdown)</a:t>
            </a:r>
            <a:endParaRPr lang="en-US" sz="1300" dirty="0"/>
          </a:p>
          <a:p>
            <a:pPr marL="0" indent="0">
              <a:spcAft>
                <a:spcPts val="600"/>
              </a:spcAft>
              <a:buNone/>
            </a:pPr>
            <a:r>
              <a:rPr lang="en-US" sz="1300" i="1" dirty="0">
                <a:solidFill>
                  <a:srgbClr val="94A3B8"/>
                </a:solidFill>
                <a:latin typeface="Calibri" pitchFamily="34" charset="0"/>
                <a:ea typeface="Calibri" pitchFamily="34" charset="-122"/>
                <a:cs typeface="Calibri" pitchFamily="34" charset="-120"/>
              </a:rPr>
              <a:t>Quantization helps target, not draft</a:t>
            </a:r>
            <a:endParaRPr lang="en-US" sz="1300" dirty="0"/>
          </a:p>
        </p:txBody>
      </p:sp>
      <p:sp>
        <p:nvSpPr>
          <p:cNvPr id="11" name="Shape 9"/>
          <p:cNvSpPr/>
          <p:nvPr/>
        </p:nvSpPr>
        <p:spPr>
          <a:xfrm>
            <a:off x="731520" y="3749040"/>
            <a:ext cx="7955280" cy="109728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12" name="Image 0" descr="preencoded.png"/>
          <p:cNvPicPr>
            <a:picLocks noChangeAspect="1"/>
          </p:cNvPicPr>
          <p:nvPr/>
        </p:nvPicPr>
        <p:blipFill>
          <a:blip r:embed="rId3"/>
          <a:stretch>
            <a:fillRect/>
          </a:stretch>
        </p:blipFill>
        <p:spPr>
          <a:xfrm>
            <a:off x="960120" y="3840480"/>
            <a:ext cx="274320" cy="274320"/>
          </a:xfrm>
          <a:prstGeom prst="rect">
            <a:avLst/>
          </a:prstGeom>
        </p:spPr>
      </p:pic>
      <p:sp>
        <p:nvSpPr>
          <p:cNvPr id="13" name="Text 10"/>
          <p:cNvSpPr/>
          <p:nvPr/>
        </p:nvSpPr>
        <p:spPr>
          <a:xfrm>
            <a:off x="1325880" y="3840480"/>
            <a:ext cx="1371600" cy="274320"/>
          </a:xfrm>
          <a:prstGeom prst="rect">
            <a:avLst/>
          </a:prstGeom>
          <a:noFill/>
          <a:ln/>
        </p:spPr>
        <p:txBody>
          <a:bodyPr wrap="square" lIns="0" tIns="0" rIns="0" bIns="0" rtlCol="0" anchor="ctr"/>
          <a:lstStyle/>
          <a:p>
            <a:pPr marL="0" indent="0">
              <a:buNone/>
            </a:pPr>
            <a:r>
              <a:rPr lang="en-US" sz="1300" b="1" dirty="0">
                <a:solidFill>
                  <a:srgbClr val="F59E0B"/>
                </a:solidFill>
                <a:latin typeface="Trebuchet MS" pitchFamily="34" charset="0"/>
                <a:ea typeface="Trebuchet MS" pitchFamily="34" charset="-122"/>
                <a:cs typeface="Trebuchet MS" pitchFamily="34" charset="-120"/>
              </a:rPr>
              <a:t>Why?</a:t>
            </a:r>
            <a:endParaRPr lang="en-US" sz="1300" dirty="0"/>
          </a:p>
        </p:txBody>
      </p:sp>
      <p:sp>
        <p:nvSpPr>
          <p:cNvPr id="14" name="Text 11"/>
          <p:cNvSpPr/>
          <p:nvPr/>
        </p:nvSpPr>
        <p:spPr>
          <a:xfrm>
            <a:off x="960120" y="4160520"/>
            <a:ext cx="7406640" cy="59436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4-bit quantization reduces the target’s memory bandwidth demand → target gets faster.</a:t>
            </a:r>
            <a:endParaRPr lang="en-US" sz="1100" dirty="0"/>
          </a:p>
          <a:p>
            <a:pPr marL="0" indent="0">
              <a:buNone/>
            </a:pPr>
            <a:r>
              <a:rPr lang="en-US" sz="1100" dirty="0">
                <a:solidFill>
                  <a:srgbClr val="CADCFC"/>
                </a:solidFill>
                <a:latin typeface="Calibri" pitchFamily="34" charset="0"/>
                <a:ea typeface="Calibri" pitchFamily="34" charset="-122"/>
                <a:cs typeface="Calibri" pitchFamily="34" charset="-120"/>
              </a:rPr>
              <a:t>The fp16 draft gets no such benefit → </a:t>
            </a:r>
            <a:r>
              <a:rPr lang="en-US" sz="1100" b="1" dirty="0">
                <a:solidFill>
                  <a:srgbClr val="F59E0B"/>
                </a:solidFill>
                <a:latin typeface="Calibri" pitchFamily="34" charset="0"/>
                <a:ea typeface="Calibri" pitchFamily="34" charset="-122"/>
                <a:cs typeface="Calibri" pitchFamily="34" charset="-120"/>
              </a:rPr>
              <a:t>the effective cost ratio increases, not decreases.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28600"/>
            <a:ext cx="8229600" cy="502920"/>
          </a:xfrm>
          <a:prstGeom prst="rect">
            <a:avLst/>
          </a:prstGeom>
          <a:noFill/>
          <a:ln/>
        </p:spPr>
        <p:txBody>
          <a:bodyPr wrap="square" lIns="0" tIns="0" rIns="0" bIns="0" rtlCol="0" anchor="ctr"/>
          <a:lstStyle/>
          <a:p>
            <a:pPr marL="0" indent="0">
              <a:buNone/>
            </a:pPr>
            <a:r>
              <a:rPr lang="en-US" sz="2600" b="1" dirty="0">
                <a:solidFill>
                  <a:srgbClr val="1E293B"/>
                </a:solidFill>
                <a:latin typeface="Trebuchet MS" pitchFamily="34" charset="0"/>
                <a:ea typeface="Trebuchet MS" pitchFamily="34" charset="-122"/>
                <a:cs typeface="Trebuchet MS" pitchFamily="34" charset="-120"/>
              </a:rPr>
              <a:t>Theory vs. Practice: Quantitative Gap Analysis</a:t>
            </a:r>
            <a:endParaRPr lang="en-US" sz="2600" dirty="0"/>
          </a:p>
        </p:txBody>
      </p:sp>
      <p:sp>
        <p:nvSpPr>
          <p:cNvPr id="4" name="Text 2"/>
          <p:cNvSpPr/>
          <p:nvPr/>
        </p:nvSpPr>
        <p:spPr>
          <a:xfrm>
            <a:off x="731520" y="731520"/>
            <a:ext cx="7680960" cy="228600"/>
          </a:xfrm>
          <a:prstGeom prst="rect">
            <a:avLst/>
          </a:prstGeom>
          <a:noFill/>
          <a:ln/>
        </p:spPr>
        <p:txBody>
          <a:bodyPr wrap="square" lIns="0" tIns="0" rIns="0" bIns="0" rtlCol="0" anchor="ctr"/>
          <a:lstStyle/>
          <a:p>
            <a:pPr marL="0" indent="0">
              <a:buNone/>
            </a:pPr>
            <a:r>
              <a:rPr lang="en-US" sz="1100" i="1" dirty="0">
                <a:solidFill>
                  <a:srgbClr val="94A3B8"/>
                </a:solidFill>
                <a:latin typeface="Calibri" pitchFamily="34" charset="0"/>
                <a:ea typeface="Calibri" pitchFamily="34" charset="-122"/>
                <a:cs typeface="Calibri" pitchFamily="34" charset="-120"/>
              </a:rPr>
              <a:t>Independently measured Cd = 22.42 ms, Ct = 37.63 ms, α per prompt (1B/3B greedy)</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097280"/>
          <a:ext cx="6583680" cy="1737360"/>
        </p:xfrm>
        <a:graphic>
          <a:graphicData uri="http://schemas.openxmlformats.org/drawingml/2006/table">
            <a:tbl>
              <a:tblPr/>
              <a:tblGrid>
                <a:gridCol w="640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34747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k</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α (measured)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α range</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 predicted (Eq.1)</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 measured</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Gap</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47472">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0.732</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0.61–0.93</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0.788×</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1.010×</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+0.222</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0.644</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0.49–1.00</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0.810×</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0.977×</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+0.167</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0.550</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0.41–0.76</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0.745×</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0.967×</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+0.222</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0.488</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0.34–0.85</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0.701×</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0.921×</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tc>
                  <a:txBody>
                    <a:bodyPr/>
                    <a:lstStyle/>
                    <a:p>
                      <a:pPr marL="0" indent="0" algn="ctr">
                        <a:buNone/>
                      </a:pPr>
                      <a:r>
                        <a:rPr lang="en-US" sz="1100" b="1" dirty="0">
                          <a:solidFill>
                            <a:srgbClr val="10B981"/>
                          </a:solidFill>
                          <a:latin typeface="Calibri" pitchFamily="34" charset="0"/>
                          <a:ea typeface="Calibri" pitchFamily="34" charset="-122"/>
                          <a:cs typeface="Calibri" pitchFamily="34" charset="-120"/>
                        </a:rPr>
                        <a:t>+0.220</a:t>
                      </a:r>
                      <a:endParaRPr lang="en-US" sz="1100" dirty="0">
                        <a:latin typeface="Calibri" charset="0"/>
                        <a:ea typeface="Calibri" charset="0"/>
                        <a:cs typeface="Calibri" charset="0"/>
                      </a:endParaRPr>
                    </a:p>
                  </a:txBody>
                  <a:tcPr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731520" y="3200400"/>
            <a:ext cx="7680960" cy="164592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7" name="Text 4"/>
          <p:cNvSpPr/>
          <p:nvPr/>
        </p:nvSpPr>
        <p:spPr>
          <a:xfrm>
            <a:off x="960120" y="3291840"/>
            <a:ext cx="7132320" cy="274320"/>
          </a:xfrm>
          <a:prstGeom prst="rect">
            <a:avLst/>
          </a:prstGeom>
          <a:noFill/>
          <a:ln/>
        </p:spPr>
        <p:txBody>
          <a:bodyPr wrap="square" lIns="0" tIns="0" rIns="0" bIns="0" rtlCol="0" anchor="ctr"/>
          <a:lstStyle/>
          <a:p>
            <a:pPr marL="0" indent="0">
              <a:buNone/>
            </a:pPr>
            <a:r>
              <a:rPr lang="en-US" sz="1400" b="1" dirty="0">
                <a:solidFill>
                  <a:srgbClr val="0891B2"/>
                </a:solidFill>
                <a:latin typeface="Trebuchet MS" pitchFamily="34" charset="0"/>
                <a:ea typeface="Trebuchet MS" pitchFamily="34" charset="-122"/>
                <a:cs typeface="Trebuchet MS" pitchFamily="34" charset="-120"/>
              </a:rPr>
              <a:t>Measured consistently beats predicted by ~+0.2×</a:t>
            </a:r>
            <a:endParaRPr lang="en-US" sz="1400" dirty="0"/>
          </a:p>
        </p:txBody>
      </p:sp>
      <p:sp>
        <p:nvSpPr>
          <p:cNvPr id="8" name="Text 5"/>
          <p:cNvSpPr/>
          <p:nvPr/>
        </p:nvSpPr>
        <p:spPr>
          <a:xfrm>
            <a:off x="960120" y="3611880"/>
            <a:ext cx="7132320" cy="1097280"/>
          </a:xfrm>
          <a:prstGeom prst="rect">
            <a:avLst/>
          </a:prstGeom>
          <a:noFill/>
          <a:ln/>
        </p:spPr>
        <p:txBody>
          <a:bodyPr wrap="square" lIns="0" tIns="0" rIns="0" bIns="0" rtlCol="0" anchor="ctr"/>
          <a:lstStyle/>
          <a:p>
            <a:pPr marL="0" indent="0">
              <a:spcAft>
                <a:spcPts val="300"/>
              </a:spcAft>
              <a:buNone/>
            </a:pPr>
            <a:r>
              <a:rPr lang="en-US" sz="1100" dirty="0">
                <a:solidFill>
                  <a:srgbClr val="1E293B"/>
                </a:solidFill>
                <a:latin typeface="Calibri" pitchFamily="34" charset="0"/>
                <a:ea typeface="Calibri" pitchFamily="34" charset="-122"/>
                <a:cs typeface="Calibri" pitchFamily="34" charset="-120"/>
              </a:rPr>
              <a:t>Cd and Ct measured via standalone autoregressive generation (isolated, not pipelined).</a:t>
            </a:r>
            <a:endParaRPr lang="en-US" sz="1100" dirty="0"/>
          </a:p>
          <a:p>
            <a:pPr marL="0" indent="0">
              <a:spcAft>
                <a:spcPts val="300"/>
              </a:spcAft>
              <a:buNone/>
            </a:pPr>
            <a:r>
              <a:rPr lang="en-US" sz="1100" dirty="0">
                <a:solidFill>
                  <a:srgbClr val="1E293B"/>
                </a:solidFill>
                <a:latin typeface="Calibri" pitchFamily="34" charset="0"/>
                <a:ea typeface="Calibri" pitchFamily="34" charset="-122"/>
                <a:cs typeface="Calibri" pitchFamily="34" charset="-120"/>
              </a:rPr>
              <a:t>Inside HuggingFace’s assisted generation, costs are amortized via shared KV-cache and batched verification.</a:t>
            </a:r>
            <a:endParaRPr lang="en-US" sz="1100" dirty="0"/>
          </a:p>
          <a:p>
            <a:pPr marL="0" indent="0">
              <a:spcAft>
                <a:spcPts val="300"/>
              </a:spcAft>
              <a:buNone/>
            </a:pPr>
            <a:r>
              <a:rPr lang="en-US" sz="1100" b="1" dirty="0">
                <a:solidFill>
                  <a:srgbClr val="0891B2"/>
                </a:solidFill>
                <a:latin typeface="Calibri" pitchFamily="34" charset="0"/>
                <a:ea typeface="Calibri" pitchFamily="34" charset="-122"/>
                <a:cs typeface="Calibri" pitchFamily="34" charset="-120"/>
              </a:rPr>
              <a:t>The consistent +0.2× gap reveals framework-level optimizations invisible to the theoretical model.</a:t>
            </a:r>
            <a:endParaRPr lang="en-US" sz="1100" dirty="0"/>
          </a:p>
          <a:p>
            <a:pPr marL="0" indent="0">
              <a:spcAft>
                <a:spcPts val="300"/>
              </a:spcAft>
              <a:buNone/>
            </a:pPr>
            <a:r>
              <a:rPr lang="en-US" sz="1100" i="1" dirty="0">
                <a:solidFill>
                  <a:srgbClr val="94A3B8"/>
                </a:solidFill>
                <a:latin typeface="Calibri" pitchFamily="34" charset="0"/>
                <a:ea typeface="Calibri" pitchFamily="34" charset="-122"/>
                <a:cs typeface="Calibri" pitchFamily="34" charset="-120"/>
              </a:rPr>
              <a:t>At k=5, speedup &gt;1.0 requires α &gt; 0.80. Only code prompts (α = 1.0) cross this threshold.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74320"/>
            <a:ext cx="8229600" cy="50292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Profiling: Bottleneck Attribution</a:t>
            </a:r>
            <a:endParaRPr lang="en-US" sz="2800" dirty="0"/>
          </a:p>
        </p:txBody>
      </p:sp>
      <p:sp>
        <p:nvSpPr>
          <p:cNvPr id="4" name="Text 2"/>
          <p:cNvSpPr/>
          <p:nvPr/>
        </p:nvSpPr>
        <p:spPr>
          <a:xfrm>
            <a:off x="731520" y="777240"/>
            <a:ext cx="7315200" cy="22860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PyTorch Profiler — decomposing CUDA time by operation category</a:t>
            </a:r>
            <a:endParaRPr lang="en-US" sz="1200" dirty="0"/>
          </a:p>
        </p:txBody>
      </p:sp>
      <p:sp>
        <p:nvSpPr>
          <p:cNvPr id="5" name="Shape 3"/>
          <p:cNvSpPr/>
          <p:nvPr/>
        </p:nvSpPr>
        <p:spPr>
          <a:xfrm>
            <a:off x="731520" y="1188720"/>
            <a:ext cx="2468880" cy="21031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6" name="Text 4"/>
          <p:cNvSpPr/>
          <p:nvPr/>
        </p:nvSpPr>
        <p:spPr>
          <a:xfrm>
            <a:off x="731520" y="1298448"/>
            <a:ext cx="2468880" cy="274320"/>
          </a:xfrm>
          <a:prstGeom prst="rect">
            <a:avLst/>
          </a:prstGeom>
          <a:noFill/>
          <a:ln/>
        </p:spPr>
        <p:txBody>
          <a:bodyPr wrap="square" lIns="0" tIns="0" rIns="0" bIns="0" rtlCol="0" anchor="ctr"/>
          <a:lstStyle/>
          <a:p>
            <a:pPr marL="0" indent="0" algn="ctr">
              <a:buNone/>
            </a:pPr>
            <a:r>
              <a:rPr lang="en-US" sz="1300" b="1" dirty="0">
                <a:solidFill>
                  <a:srgbClr val="CADCFC"/>
                </a:solidFill>
                <a:latin typeface="Trebuchet MS" pitchFamily="34" charset="0"/>
                <a:ea typeface="Trebuchet MS" pitchFamily="34" charset="-122"/>
                <a:cs typeface="Trebuchet MS" pitchFamily="34" charset="-120"/>
              </a:rPr>
              <a:t>Baseline</a:t>
            </a:r>
            <a:endParaRPr lang="en-US" sz="1300" dirty="0"/>
          </a:p>
        </p:txBody>
      </p:sp>
      <p:sp>
        <p:nvSpPr>
          <p:cNvPr id="7" name="Text 5"/>
          <p:cNvSpPr/>
          <p:nvPr/>
        </p:nvSpPr>
        <p:spPr>
          <a:xfrm>
            <a:off x="731520" y="1600200"/>
            <a:ext cx="2468880" cy="457200"/>
          </a:xfrm>
          <a:prstGeom prst="rect">
            <a:avLst/>
          </a:prstGeom>
          <a:noFill/>
          <a:ln/>
        </p:spPr>
        <p:txBody>
          <a:bodyPr wrap="square" lIns="0" tIns="0" rIns="0" bIns="0" rtlCol="0" anchor="ctr"/>
          <a:lstStyle/>
          <a:p>
            <a:pPr marL="0" indent="0" algn="ctr">
              <a:buNone/>
            </a:pPr>
            <a:r>
              <a:rPr lang="en-US" sz="2800" b="1" dirty="0">
                <a:solidFill>
                  <a:srgbClr val="FFFFFF"/>
                </a:solidFill>
                <a:latin typeface="Trebuchet MS" pitchFamily="34" charset="0"/>
                <a:ea typeface="Trebuchet MS" pitchFamily="34" charset="-122"/>
                <a:cs typeface="Trebuchet MS" pitchFamily="34" charset="-120"/>
              </a:rPr>
              <a:t>8,334 ms</a:t>
            </a:r>
            <a:endParaRPr lang="en-US" sz="2800" dirty="0"/>
          </a:p>
        </p:txBody>
      </p:sp>
      <p:sp>
        <p:nvSpPr>
          <p:cNvPr id="8" name="Text 6"/>
          <p:cNvSpPr/>
          <p:nvPr/>
        </p:nvSpPr>
        <p:spPr>
          <a:xfrm>
            <a:off x="731520" y="2057400"/>
            <a:ext cx="2468880" cy="201168"/>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avg CUDA time / prompt</a:t>
            </a:r>
            <a:endParaRPr lang="en-US" sz="1000" dirty="0"/>
          </a:p>
        </p:txBody>
      </p:sp>
      <p:sp>
        <p:nvSpPr>
          <p:cNvPr id="9" name="Text 7"/>
          <p:cNvSpPr/>
          <p:nvPr/>
        </p:nvSpPr>
        <p:spPr>
          <a:xfrm>
            <a:off x="914400" y="2377440"/>
            <a:ext cx="2103120" cy="73152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matmul: ~20%</a:t>
            </a:r>
            <a:endParaRPr lang="en-US" sz="1000" dirty="0"/>
          </a:p>
          <a:p>
            <a:pPr marL="0" indent="0">
              <a:buNone/>
            </a:pPr>
            <a:r>
              <a:rPr lang="en-US" sz="1000" dirty="0">
                <a:solidFill>
                  <a:srgbClr val="CADCFC"/>
                </a:solidFill>
                <a:latin typeface="Calibri" pitchFamily="34" charset="0"/>
                <a:ea typeface="Calibri" pitchFamily="34" charset="-122"/>
                <a:cs typeface="Calibri" pitchFamily="34" charset="-120"/>
              </a:rPr>
              <a:t>memory ops: ~1.3%</a:t>
            </a:r>
            <a:endParaRPr lang="en-US" sz="1000" dirty="0"/>
          </a:p>
          <a:p>
            <a:pPr marL="0" indent="0">
              <a:buNone/>
            </a:pPr>
            <a:r>
              <a:rPr lang="en-US" sz="1000" dirty="0">
                <a:solidFill>
                  <a:srgbClr val="CADCFC"/>
                </a:solidFill>
                <a:latin typeface="Calibri" pitchFamily="34" charset="0"/>
                <a:ea typeface="Calibri" pitchFamily="34" charset="-122"/>
                <a:cs typeface="Calibri" pitchFamily="34" charset="-120"/>
              </a:rPr>
              <a:t>other (scheduling): ~78%</a:t>
            </a:r>
            <a:endParaRPr lang="en-US" sz="1000" dirty="0"/>
          </a:p>
        </p:txBody>
      </p:sp>
      <p:sp>
        <p:nvSpPr>
          <p:cNvPr id="10" name="Shape 8"/>
          <p:cNvSpPr/>
          <p:nvPr/>
        </p:nvSpPr>
        <p:spPr>
          <a:xfrm>
            <a:off x="3474720" y="1188720"/>
            <a:ext cx="2468880" cy="21031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11" name="Text 9"/>
          <p:cNvSpPr/>
          <p:nvPr/>
        </p:nvSpPr>
        <p:spPr>
          <a:xfrm>
            <a:off x="3474720" y="1298448"/>
            <a:ext cx="2468880" cy="274320"/>
          </a:xfrm>
          <a:prstGeom prst="rect">
            <a:avLst/>
          </a:prstGeom>
          <a:noFill/>
          <a:ln/>
        </p:spPr>
        <p:txBody>
          <a:bodyPr wrap="square" lIns="0" tIns="0" rIns="0" bIns="0" rtlCol="0" anchor="ctr"/>
          <a:lstStyle/>
          <a:p>
            <a:pPr marL="0" indent="0" algn="ctr">
              <a:buNone/>
            </a:pPr>
            <a:r>
              <a:rPr lang="en-US" sz="1300" b="1" dirty="0">
                <a:solidFill>
                  <a:srgbClr val="CADCFC"/>
                </a:solidFill>
                <a:latin typeface="Trebuchet MS" pitchFamily="34" charset="0"/>
                <a:ea typeface="Trebuchet MS" pitchFamily="34" charset="-122"/>
                <a:cs typeface="Trebuchet MS" pitchFamily="34" charset="-120"/>
              </a:rPr>
              <a:t>Linear SD (k=5)</a:t>
            </a:r>
            <a:endParaRPr lang="en-US" sz="1300" dirty="0"/>
          </a:p>
        </p:txBody>
      </p:sp>
      <p:sp>
        <p:nvSpPr>
          <p:cNvPr id="12" name="Text 10"/>
          <p:cNvSpPr/>
          <p:nvPr/>
        </p:nvSpPr>
        <p:spPr>
          <a:xfrm>
            <a:off x="3474720" y="1600200"/>
            <a:ext cx="2468880" cy="457200"/>
          </a:xfrm>
          <a:prstGeom prst="rect">
            <a:avLst/>
          </a:prstGeom>
          <a:noFill/>
          <a:ln/>
        </p:spPr>
        <p:txBody>
          <a:bodyPr wrap="square" lIns="0" tIns="0" rIns="0" bIns="0" rtlCol="0" anchor="ctr"/>
          <a:lstStyle/>
          <a:p>
            <a:pPr marL="0" indent="0" algn="ctr">
              <a:buNone/>
            </a:pPr>
            <a:r>
              <a:rPr lang="en-US" sz="2800" b="1" dirty="0">
                <a:solidFill>
                  <a:srgbClr val="22D3EE"/>
                </a:solidFill>
                <a:latin typeface="Trebuchet MS" pitchFamily="34" charset="0"/>
                <a:ea typeface="Trebuchet MS" pitchFamily="34" charset="-122"/>
                <a:cs typeface="Trebuchet MS" pitchFamily="34" charset="-120"/>
              </a:rPr>
              <a:t>6,583 ms</a:t>
            </a:r>
            <a:endParaRPr lang="en-US" sz="2800" dirty="0"/>
          </a:p>
        </p:txBody>
      </p:sp>
      <p:sp>
        <p:nvSpPr>
          <p:cNvPr id="13" name="Text 11"/>
          <p:cNvSpPr/>
          <p:nvPr/>
        </p:nvSpPr>
        <p:spPr>
          <a:xfrm>
            <a:off x="3474720" y="2057400"/>
            <a:ext cx="2468880" cy="201168"/>
          </a:xfrm>
          <a:prstGeom prst="rect">
            <a:avLst/>
          </a:prstGeom>
          <a:noFill/>
          <a:ln/>
        </p:spPr>
        <p:txBody>
          <a:bodyPr wrap="square" lIns="0" tIns="0" rIns="0" bIns="0" rtlCol="0" anchor="ctr"/>
          <a:lstStyle/>
          <a:p>
            <a:pPr marL="0" indent="0" algn="ctr">
              <a:buNone/>
            </a:pPr>
            <a:r>
              <a:rPr lang="en-US" sz="1000" dirty="0">
                <a:solidFill>
                  <a:srgbClr val="22D3EE"/>
                </a:solidFill>
                <a:latin typeface="Calibri" pitchFamily="34" charset="0"/>
                <a:ea typeface="Calibri" pitchFamily="34" charset="-122"/>
                <a:cs typeface="Calibri" pitchFamily="34" charset="-120"/>
              </a:rPr>
              <a:t>Δ21% less CUDA time</a:t>
            </a:r>
            <a:endParaRPr lang="en-US" sz="1000" dirty="0"/>
          </a:p>
        </p:txBody>
      </p:sp>
      <p:sp>
        <p:nvSpPr>
          <p:cNvPr id="14" name="Text 12"/>
          <p:cNvSpPr/>
          <p:nvPr/>
        </p:nvSpPr>
        <p:spPr>
          <a:xfrm>
            <a:off x="3657600" y="2377440"/>
            <a:ext cx="2103120" cy="73152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KV-cache overhead: +2.1 ms</a:t>
            </a:r>
            <a:endParaRPr lang="en-US" sz="1000" dirty="0"/>
          </a:p>
          <a:p>
            <a:pPr marL="0" indent="0">
              <a:buNone/>
            </a:pPr>
            <a:r>
              <a:rPr lang="en-US" sz="1000" dirty="0">
                <a:solidFill>
                  <a:srgbClr val="CADCFC"/>
                </a:solidFill>
                <a:latin typeface="Calibri" pitchFamily="34" charset="0"/>
                <a:ea typeface="Calibri" pitchFamily="34" charset="-122"/>
                <a:cs typeface="Calibri" pitchFamily="34" charset="-120"/>
              </a:rPr>
              <a:t>Csys per iteration: ~0.10 ms</a:t>
            </a:r>
            <a:endParaRPr lang="en-US" sz="1000" dirty="0"/>
          </a:p>
          <a:p>
            <a:pPr marL="0" indent="0">
              <a:buNone/>
            </a:pPr>
            <a:r>
              <a:rPr lang="en-US" sz="1000" dirty="0">
                <a:solidFill>
                  <a:srgbClr val="CADCFC"/>
                </a:solidFill>
                <a:latin typeface="Calibri" pitchFamily="34" charset="0"/>
                <a:ea typeface="Calibri" pitchFamily="34" charset="-122"/>
                <a:cs typeface="Calibri" pitchFamily="34" charset="-120"/>
              </a:rPr>
              <a:t>Draft forward passes dominate</a:t>
            </a:r>
            <a:endParaRPr lang="en-US" sz="1000" dirty="0"/>
          </a:p>
        </p:txBody>
      </p:sp>
      <p:sp>
        <p:nvSpPr>
          <p:cNvPr id="15" name="Shape 13"/>
          <p:cNvSpPr/>
          <p:nvPr/>
        </p:nvSpPr>
        <p:spPr>
          <a:xfrm>
            <a:off x="6217920" y="1188720"/>
            <a:ext cx="2468880" cy="21031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16" name="Text 14"/>
          <p:cNvSpPr/>
          <p:nvPr/>
        </p:nvSpPr>
        <p:spPr>
          <a:xfrm>
            <a:off x="6217920" y="1298448"/>
            <a:ext cx="2468880" cy="274320"/>
          </a:xfrm>
          <a:prstGeom prst="rect">
            <a:avLst/>
          </a:prstGeom>
          <a:noFill/>
          <a:ln/>
        </p:spPr>
        <p:txBody>
          <a:bodyPr wrap="square" lIns="0" tIns="0" rIns="0" bIns="0" rtlCol="0" anchor="ctr"/>
          <a:lstStyle/>
          <a:p>
            <a:pPr marL="0" indent="0" algn="ctr">
              <a:buNone/>
            </a:pPr>
            <a:r>
              <a:rPr lang="en-US" sz="1300" b="1" dirty="0">
                <a:solidFill>
                  <a:srgbClr val="CADCFC"/>
                </a:solidFill>
                <a:latin typeface="Trebuchet MS" pitchFamily="34" charset="0"/>
                <a:ea typeface="Trebuchet MS" pitchFamily="34" charset="-122"/>
                <a:cs typeface="Trebuchet MS" pitchFamily="34" charset="-120"/>
              </a:rPr>
              <a:t>Prompt Lookup (n=5)</a:t>
            </a:r>
            <a:endParaRPr lang="en-US" sz="1300" dirty="0"/>
          </a:p>
        </p:txBody>
      </p:sp>
      <p:sp>
        <p:nvSpPr>
          <p:cNvPr id="17" name="Text 15"/>
          <p:cNvSpPr/>
          <p:nvPr/>
        </p:nvSpPr>
        <p:spPr>
          <a:xfrm>
            <a:off x="6217920" y="1600200"/>
            <a:ext cx="2468880" cy="457200"/>
          </a:xfrm>
          <a:prstGeom prst="rect">
            <a:avLst/>
          </a:prstGeom>
          <a:noFill/>
          <a:ln/>
        </p:spPr>
        <p:txBody>
          <a:bodyPr wrap="square" lIns="0" tIns="0" rIns="0" bIns="0" rtlCol="0" anchor="ctr"/>
          <a:lstStyle/>
          <a:p>
            <a:pPr marL="0" indent="0" algn="ctr">
              <a:buNone/>
            </a:pPr>
            <a:r>
              <a:rPr lang="en-US" sz="2800" b="1" dirty="0">
                <a:solidFill>
                  <a:srgbClr val="10B981"/>
                </a:solidFill>
                <a:latin typeface="Trebuchet MS" pitchFamily="34" charset="0"/>
                <a:ea typeface="Trebuchet MS" pitchFamily="34" charset="-122"/>
                <a:cs typeface="Trebuchet MS" pitchFamily="34" charset="-120"/>
              </a:rPr>
              <a:t>5,975 ms</a:t>
            </a:r>
            <a:endParaRPr lang="en-US" sz="2800" dirty="0"/>
          </a:p>
        </p:txBody>
      </p:sp>
      <p:sp>
        <p:nvSpPr>
          <p:cNvPr id="18" name="Text 16"/>
          <p:cNvSpPr/>
          <p:nvPr/>
        </p:nvSpPr>
        <p:spPr>
          <a:xfrm>
            <a:off x="6217920" y="2057400"/>
            <a:ext cx="2468880" cy="201168"/>
          </a:xfrm>
          <a:prstGeom prst="rect">
            <a:avLst/>
          </a:prstGeom>
          <a:noFill/>
          <a:ln/>
        </p:spPr>
        <p:txBody>
          <a:bodyPr wrap="square" lIns="0" tIns="0" rIns="0" bIns="0" rtlCol="0" anchor="ctr"/>
          <a:lstStyle/>
          <a:p>
            <a:pPr marL="0" indent="0" algn="ctr">
              <a:buNone/>
            </a:pPr>
            <a:r>
              <a:rPr lang="en-US" sz="1000" dirty="0">
                <a:solidFill>
                  <a:srgbClr val="10B981"/>
                </a:solidFill>
                <a:latin typeface="Calibri" pitchFamily="34" charset="0"/>
                <a:ea typeface="Calibri" pitchFamily="34" charset="-122"/>
                <a:cs typeface="Calibri" pitchFamily="34" charset="-120"/>
              </a:rPr>
              <a:t>Δ28% less CUDA time</a:t>
            </a:r>
            <a:endParaRPr lang="en-US" sz="1000" dirty="0"/>
          </a:p>
        </p:txBody>
      </p:sp>
      <p:sp>
        <p:nvSpPr>
          <p:cNvPr id="19" name="Text 17"/>
          <p:cNvSpPr/>
          <p:nvPr/>
        </p:nvSpPr>
        <p:spPr>
          <a:xfrm>
            <a:off x="6400800" y="2377440"/>
            <a:ext cx="2103120" cy="731520"/>
          </a:xfrm>
          <a:prstGeom prst="rect">
            <a:avLst/>
          </a:prstGeom>
          <a:noFill/>
          <a:ln/>
        </p:spPr>
        <p:txBody>
          <a:bodyPr wrap="square" lIns="0" tIns="0" rIns="0" bIns="0" rtlCol="0" anchor="ctr"/>
          <a:lstStyle/>
          <a:p>
            <a:pPr marL="0" indent="0">
              <a:buNone/>
            </a:pPr>
            <a:r>
              <a:rPr lang="en-US" sz="1000" dirty="0">
                <a:solidFill>
                  <a:srgbClr val="CADCFC"/>
                </a:solidFill>
                <a:latin typeface="Calibri" pitchFamily="34" charset="0"/>
                <a:ea typeface="Calibri" pitchFamily="34" charset="-122"/>
                <a:cs typeface="Calibri" pitchFamily="34" charset="-120"/>
              </a:rPr>
              <a:t>Zero GPU overhead (Cr is CPU)</a:t>
            </a:r>
            <a:endParaRPr lang="en-US" sz="1000" dirty="0"/>
          </a:p>
          <a:p>
            <a:pPr marL="0" indent="0">
              <a:buNone/>
            </a:pPr>
            <a:r>
              <a:rPr lang="en-US" sz="1000" dirty="0">
                <a:solidFill>
                  <a:srgbClr val="CADCFC"/>
                </a:solidFill>
                <a:latin typeface="Calibri" pitchFamily="34" charset="0"/>
                <a:ea typeface="Calibri" pitchFamily="34" charset="-122"/>
                <a:cs typeface="Calibri" pitchFamily="34" charset="-120"/>
              </a:rPr>
              <a:t>Confirms Equation 4</a:t>
            </a:r>
            <a:endParaRPr lang="en-US" sz="1000" dirty="0"/>
          </a:p>
          <a:p>
            <a:pPr marL="0" indent="0">
              <a:buNone/>
            </a:pPr>
            <a:r>
              <a:rPr lang="en-US" sz="1000" dirty="0">
                <a:solidFill>
                  <a:srgbClr val="CADCFC"/>
                </a:solidFill>
                <a:latin typeface="Calibri" pitchFamily="34" charset="0"/>
                <a:ea typeface="Calibri" pitchFamily="34" charset="-122"/>
                <a:cs typeface="Calibri" pitchFamily="34" charset="-120"/>
              </a:rPr>
              <a:t>All savings = fewer target passes</a:t>
            </a:r>
            <a:endParaRPr lang="en-US" sz="1000" dirty="0"/>
          </a:p>
        </p:txBody>
      </p:sp>
      <p:sp>
        <p:nvSpPr>
          <p:cNvPr id="20" name="Shape 18"/>
          <p:cNvSpPr/>
          <p:nvPr/>
        </p:nvSpPr>
        <p:spPr>
          <a:xfrm>
            <a:off x="731520" y="3520440"/>
            <a:ext cx="7955280" cy="123444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21" name="Image 0" descr="preencoded.png"/>
          <p:cNvPicPr>
            <a:picLocks noChangeAspect="1"/>
          </p:cNvPicPr>
          <p:nvPr/>
        </p:nvPicPr>
        <p:blipFill>
          <a:blip r:embed="rId3"/>
          <a:stretch>
            <a:fillRect/>
          </a:stretch>
        </p:blipFill>
        <p:spPr>
          <a:xfrm>
            <a:off x="960120" y="3630168"/>
            <a:ext cx="274320" cy="274320"/>
          </a:xfrm>
          <a:prstGeom prst="rect">
            <a:avLst/>
          </a:prstGeom>
        </p:spPr>
      </p:pic>
      <p:sp>
        <p:nvSpPr>
          <p:cNvPr id="22" name="Text 19"/>
          <p:cNvSpPr/>
          <p:nvPr/>
        </p:nvSpPr>
        <p:spPr>
          <a:xfrm>
            <a:off x="1325880" y="3630168"/>
            <a:ext cx="1828800" cy="274320"/>
          </a:xfrm>
          <a:prstGeom prst="rect">
            <a:avLst/>
          </a:prstGeom>
          <a:noFill/>
          <a:ln/>
        </p:spPr>
        <p:txBody>
          <a:bodyPr wrap="square" lIns="0" tIns="0" rIns="0" bIns="0" rtlCol="0" anchor="ctr"/>
          <a:lstStyle/>
          <a:p>
            <a:pPr marL="0" indent="0">
              <a:buNone/>
            </a:pPr>
            <a:r>
              <a:rPr lang="en-US" sz="1300" b="1" dirty="0">
                <a:solidFill>
                  <a:srgbClr val="F59E0B"/>
                </a:solidFill>
                <a:latin typeface="Trebuchet MS" pitchFamily="34" charset="0"/>
                <a:ea typeface="Trebuchet MS" pitchFamily="34" charset="-122"/>
                <a:cs typeface="Trebuchet MS" pitchFamily="34" charset="-120"/>
              </a:rPr>
              <a:t>Key Insight</a:t>
            </a:r>
            <a:endParaRPr lang="en-US" sz="1300" dirty="0"/>
          </a:p>
        </p:txBody>
      </p:sp>
      <p:sp>
        <p:nvSpPr>
          <p:cNvPr id="23" name="Text 20"/>
          <p:cNvSpPr/>
          <p:nvPr/>
        </p:nvSpPr>
        <p:spPr>
          <a:xfrm>
            <a:off x="960120" y="3977640"/>
            <a:ext cx="7406640" cy="36576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KV-cache rewind overhead (Csys) is negligible at ~0.10 ms/iter. </a:t>
            </a:r>
            <a:r>
              <a:rPr lang="en-US" sz="1100" b="1" dirty="0">
                <a:solidFill>
                  <a:srgbClr val="22D3EE"/>
                </a:solidFill>
                <a:latin typeface="Calibri" pitchFamily="34" charset="0"/>
                <a:ea typeface="Calibri" pitchFamily="34" charset="-122"/>
                <a:cs typeface="Calibri" pitchFamily="34" charset="-120"/>
              </a:rPr>
              <a:t>The bottleneck in linear SD is not cache management — it’s the raw cost of the draft model.</a:t>
            </a:r>
            <a:endParaRPr lang="en-US" sz="1100" dirty="0"/>
          </a:p>
        </p:txBody>
      </p:sp>
      <p:sp>
        <p:nvSpPr>
          <p:cNvPr id="24" name="Text 21"/>
          <p:cNvSpPr/>
          <p:nvPr/>
        </p:nvSpPr>
        <p:spPr>
          <a:xfrm>
            <a:off x="960120" y="4389120"/>
            <a:ext cx="7406640" cy="27432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This explains why PLD, which eliminates the draft entirely, achieves better speedups despite lower average acceptance rates.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74320"/>
            <a:ext cx="8229600" cy="50292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Temperature Sensitivity</a:t>
            </a:r>
            <a:endParaRPr lang="en-US" sz="2800" dirty="0"/>
          </a:p>
        </p:txBody>
      </p:sp>
      <p:graphicFrame>
        <p:nvGraphicFramePr>
          <p:cNvPr id="4" name="Chart 0"/>
          <p:cNvGraphicFramePr/>
          <p:nvPr/>
        </p:nvGraphicFramePr>
        <p:xfrm>
          <a:off x="274320" y="914400"/>
          <a:ext cx="502920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5669280" y="914400"/>
            <a:ext cx="3200400" cy="301752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6" name="Text 3"/>
          <p:cNvSpPr/>
          <p:nvPr/>
        </p:nvSpPr>
        <p:spPr>
          <a:xfrm>
            <a:off x="5852160" y="1051560"/>
            <a:ext cx="2743200" cy="274320"/>
          </a:xfrm>
          <a:prstGeom prst="rect">
            <a:avLst/>
          </a:prstGeom>
          <a:noFill/>
          <a:ln/>
        </p:spPr>
        <p:txBody>
          <a:bodyPr wrap="square" lIns="0" tIns="0" rIns="0" bIns="0" rtlCol="0" anchor="ctr"/>
          <a:lstStyle/>
          <a:p>
            <a:pPr marL="0" indent="0">
              <a:buNone/>
            </a:pPr>
            <a:r>
              <a:rPr lang="en-US" sz="1400" b="1" dirty="0">
                <a:solidFill>
                  <a:srgbClr val="0891B2"/>
                </a:solidFill>
                <a:latin typeface="Trebuchet MS" pitchFamily="34" charset="0"/>
                <a:ea typeface="Trebuchet MS" pitchFamily="34" charset="-122"/>
                <a:cs typeface="Trebuchet MS" pitchFamily="34" charset="-120"/>
              </a:rPr>
              <a:t>Why Sampling Hurts</a:t>
            </a:r>
            <a:endParaRPr lang="en-US" sz="1400" dirty="0"/>
          </a:p>
        </p:txBody>
      </p:sp>
      <p:sp>
        <p:nvSpPr>
          <p:cNvPr id="7" name="Text 4"/>
          <p:cNvSpPr/>
          <p:nvPr/>
        </p:nvSpPr>
        <p:spPr>
          <a:xfrm>
            <a:off x="5852160" y="1417320"/>
            <a:ext cx="2834640" cy="2286000"/>
          </a:xfrm>
          <a:prstGeom prst="rect">
            <a:avLst/>
          </a:prstGeom>
          <a:noFill/>
          <a:ln/>
        </p:spPr>
        <p:txBody>
          <a:bodyPr wrap="square" lIns="0" tIns="0" rIns="0" bIns="0" rtlCol="0" anchor="ctr"/>
          <a:lstStyle/>
          <a:p>
            <a:pPr marL="0" indent="0">
              <a:buNone/>
            </a:pPr>
            <a:r>
              <a:rPr lang="en-US" sz="1100" dirty="0">
                <a:solidFill>
                  <a:srgbClr val="1E293B"/>
                </a:solidFill>
                <a:latin typeface="Calibri" pitchFamily="34" charset="0"/>
                <a:ea typeface="Calibri" pitchFamily="34" charset="-122"/>
                <a:cs typeface="Calibri" pitchFamily="34" charset="-120"/>
              </a:rPr>
              <a:t>Higher T → more randomness in target distribution → draft-target agreement (α) drops.</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With Cd/Ct already near failure threshold, lower α compounds the slowdown.</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At T=0.6, 1B/8B-4bit shows 28% slowdown.</a:t>
            </a:r>
            <a:endParaRPr lang="en-US" sz="1100" dirty="0"/>
          </a:p>
          <a:p>
            <a:pPr marL="0" indent="0">
              <a:buNone/>
            </a:pPr>
            <a:endParaRPr lang="en-US" sz="1100" dirty="0"/>
          </a:p>
          <a:p>
            <a:pPr marL="0" indent="0">
              <a:buNone/>
            </a:pPr>
            <a:r>
              <a:rPr lang="en-US" sz="1100" dirty="0">
                <a:solidFill>
                  <a:srgbClr val="1E293B"/>
                </a:solidFill>
                <a:latin typeface="Calibri" pitchFamily="34" charset="0"/>
                <a:ea typeface="Calibri" pitchFamily="34" charset="-122"/>
                <a:cs typeface="Calibri" pitchFamily="34" charset="-120"/>
              </a:rPr>
              <a:t>This motivates tree-structured methods like Sequoia (sampling-without-replacement verification).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182880"/>
            <a:ext cx="8229600" cy="502920"/>
          </a:xfrm>
          <a:prstGeom prst="rect">
            <a:avLst/>
          </a:prstGeom>
          <a:noFill/>
          <a:ln/>
        </p:spPr>
        <p:txBody>
          <a:bodyPr wrap="square" lIns="0" tIns="0" rIns="0" bIns="0" rtlCol="0" anchor="ctr"/>
          <a:lstStyle/>
          <a:p>
            <a:pPr marL="0" indent="0">
              <a:buNone/>
            </a:pPr>
            <a:r>
              <a:rPr lang="en-US" sz="2600" b="1" dirty="0">
                <a:solidFill>
                  <a:srgbClr val="FFFFFF"/>
                </a:solidFill>
                <a:latin typeface="Trebuchet MS" pitchFamily="34" charset="0"/>
                <a:ea typeface="Trebuchet MS" pitchFamily="34" charset="-122"/>
                <a:cs typeface="Trebuchet MS" pitchFamily="34" charset="-120"/>
              </a:rPr>
              <a:t>Tree-Structured Methods: Deployment Barriers</a:t>
            </a:r>
            <a:endParaRPr lang="en-US" sz="2600" dirty="0"/>
          </a:p>
        </p:txBody>
      </p:sp>
      <p:sp>
        <p:nvSpPr>
          <p:cNvPr id="4" name="Shape 2"/>
          <p:cNvSpPr/>
          <p:nvPr/>
        </p:nvSpPr>
        <p:spPr>
          <a:xfrm>
            <a:off x="731520" y="868680"/>
            <a:ext cx="3840480" cy="228600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5" name="Image 0" descr="preencoded.png"/>
          <p:cNvPicPr>
            <a:picLocks noChangeAspect="1"/>
          </p:cNvPicPr>
          <p:nvPr/>
        </p:nvPicPr>
        <p:blipFill>
          <a:blip r:embed="rId3"/>
          <a:stretch>
            <a:fillRect/>
          </a:stretch>
        </p:blipFill>
        <p:spPr>
          <a:xfrm>
            <a:off x="960120" y="960120"/>
            <a:ext cx="274320" cy="274320"/>
          </a:xfrm>
          <a:prstGeom prst="rect">
            <a:avLst/>
          </a:prstGeom>
        </p:spPr>
      </p:pic>
      <p:sp>
        <p:nvSpPr>
          <p:cNvPr id="6" name="Text 3"/>
          <p:cNvSpPr/>
          <p:nvPr/>
        </p:nvSpPr>
        <p:spPr>
          <a:xfrm>
            <a:off x="1325880" y="960120"/>
            <a:ext cx="3017520" cy="274320"/>
          </a:xfrm>
          <a:prstGeom prst="rect">
            <a:avLst/>
          </a:prstGeom>
          <a:noFill/>
          <a:ln/>
        </p:spPr>
        <p:txBody>
          <a:bodyPr wrap="square" lIns="0" tIns="0" rIns="0" bIns="0" rtlCol="0" anchor="ctr"/>
          <a:lstStyle/>
          <a:p>
            <a:pPr marL="0" indent="0">
              <a:buNone/>
            </a:pPr>
            <a:r>
              <a:rPr lang="en-US" sz="1200" b="1" dirty="0">
                <a:solidFill>
                  <a:srgbClr val="F59E0B"/>
                </a:solidFill>
                <a:latin typeface="Trebuchet MS" pitchFamily="34" charset="0"/>
                <a:ea typeface="Trebuchet MS" pitchFamily="34" charset="-122"/>
                <a:cs typeface="Trebuchet MS" pitchFamily="34" charset="-120"/>
              </a:rPr>
              <a:t>Implementation Attempts (~10 trials)</a:t>
            </a:r>
            <a:endParaRPr lang="en-US" sz="1200" dirty="0"/>
          </a:p>
        </p:txBody>
      </p:sp>
      <p:sp>
        <p:nvSpPr>
          <p:cNvPr id="7" name="Text 4"/>
          <p:cNvSpPr/>
          <p:nvPr/>
        </p:nvSpPr>
        <p:spPr>
          <a:xfrm>
            <a:off x="960120" y="1371600"/>
            <a:ext cx="3291840" cy="155448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Sequoia repo ships only A100/L40 growmaps</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DP tree optimizer: PyTorch 2.10 compat issues</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Source-level patches for T4 bandwidth params</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Tree attention kernels assume specific GPU arch</a:t>
            </a:r>
            <a:endParaRPr lang="en-US" sz="1100" dirty="0"/>
          </a:p>
        </p:txBody>
      </p:sp>
      <p:sp>
        <p:nvSpPr>
          <p:cNvPr id="8" name="Shape 5"/>
          <p:cNvSpPr/>
          <p:nvPr/>
        </p:nvSpPr>
        <p:spPr>
          <a:xfrm>
            <a:off x="4846320" y="868680"/>
            <a:ext cx="3840480" cy="228600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5074920" y="960120"/>
            <a:ext cx="274320" cy="274320"/>
          </a:xfrm>
          <a:prstGeom prst="rect">
            <a:avLst/>
          </a:prstGeom>
        </p:spPr>
      </p:pic>
      <p:sp>
        <p:nvSpPr>
          <p:cNvPr id="10" name="Text 6"/>
          <p:cNvSpPr/>
          <p:nvPr/>
        </p:nvSpPr>
        <p:spPr>
          <a:xfrm>
            <a:off x="5440680" y="960120"/>
            <a:ext cx="3017520" cy="274320"/>
          </a:xfrm>
          <a:prstGeom prst="rect">
            <a:avLst/>
          </a:prstGeom>
          <a:noFill/>
          <a:ln/>
        </p:spPr>
        <p:txBody>
          <a:bodyPr wrap="square" lIns="0" tIns="0" rIns="0" bIns="0" rtlCol="0" anchor="ctr"/>
          <a:lstStyle/>
          <a:p>
            <a:pPr marL="0" indent="0">
              <a:buNone/>
            </a:pPr>
            <a:r>
              <a:rPr lang="en-US" sz="1200" b="1" dirty="0">
                <a:solidFill>
                  <a:srgbClr val="F59E0B"/>
                </a:solidFill>
                <a:latin typeface="Trebuchet MS" pitchFamily="34" charset="0"/>
                <a:ea typeface="Trebuchet MS" pitchFamily="34" charset="-122"/>
                <a:cs typeface="Trebuchet MS" pitchFamily="34" charset="-120"/>
              </a:rPr>
              <a:t>Systems Finding</a:t>
            </a:r>
            <a:endParaRPr lang="en-US" sz="1200" dirty="0"/>
          </a:p>
        </p:txBody>
      </p:sp>
      <p:sp>
        <p:nvSpPr>
          <p:cNvPr id="11" name="Text 7"/>
          <p:cNvSpPr/>
          <p:nvPr/>
        </p:nvSpPr>
        <p:spPr>
          <a:xfrm>
            <a:off x="5074920" y="1371600"/>
            <a:ext cx="3291840" cy="155448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Linear SD &amp; PLD: out-of-the-box via HuggingFace (1 param each)</a:t>
            </a:r>
            <a:endParaRPr lang="en-US" sz="1100" dirty="0"/>
          </a:p>
          <a:p>
            <a:pPr marL="342900" indent="-342900">
              <a:spcAft>
                <a:spcPts val="400"/>
              </a:spcAft>
              <a:buSzPct val="100000"/>
              <a:buChar char="•"/>
            </a:pPr>
            <a:r>
              <a:rPr lang="en-US" sz="1100" dirty="0">
                <a:solidFill>
                  <a:srgbClr val="CADCFC"/>
                </a:solidFill>
                <a:latin typeface="Calibri" pitchFamily="34" charset="0"/>
                <a:ea typeface="Calibri" pitchFamily="34" charset="-122"/>
                <a:cs typeface="Calibri" pitchFamily="34" charset="-120"/>
              </a:rPr>
              <a:t>Tree methods: require HW-specific artifacts (growmaps, custom kernels)</a:t>
            </a:r>
            <a:endParaRPr lang="en-US" sz="1100" dirty="0"/>
          </a:p>
          <a:p>
            <a:pPr marL="342900" indent="-342900">
              <a:spcAft>
                <a:spcPts val="400"/>
              </a:spcAft>
              <a:buSzPct val="100000"/>
              <a:buChar char="•"/>
            </a:pPr>
            <a:r>
              <a:rPr lang="en-US" sz="1100" b="1" dirty="0">
                <a:solidFill>
                  <a:srgbClr val="22D3EE"/>
                </a:solidFill>
                <a:latin typeface="Calibri" pitchFamily="34" charset="0"/>
                <a:ea typeface="Calibri" pitchFamily="34" charset="-122"/>
                <a:cs typeface="Calibri" pitchFamily="34" charset="-120"/>
              </a:rPr>
              <a:t>Deployment complexity is a real dimension of comparison</a:t>
            </a:r>
            <a:endParaRPr lang="en-US" sz="1100" dirty="0"/>
          </a:p>
          <a:p>
            <a:pPr marL="342900" indent="-342900">
              <a:spcAft>
                <a:spcPts val="400"/>
              </a:spcAft>
              <a:buSzPct val="100000"/>
              <a:buChar char="•"/>
            </a:pPr>
            <a:r>
              <a:rPr lang="en-US" sz="1100" i="1" dirty="0">
                <a:solidFill>
                  <a:srgbClr val="94A3B8"/>
                </a:solidFill>
                <a:latin typeface="Calibri" pitchFamily="34" charset="0"/>
                <a:ea typeface="Calibri" pitchFamily="34" charset="-122"/>
                <a:cs typeface="Calibri" pitchFamily="34" charset="-120"/>
              </a:rPr>
              <a:t>Ongoing: adapting tree optimizer for final report</a:t>
            </a:r>
            <a:endParaRPr lang="en-US" sz="1100" dirty="0"/>
          </a:p>
        </p:txBody>
      </p:sp>
      <p:sp>
        <p:nvSpPr>
          <p:cNvPr id="12" name="Shape 8"/>
          <p:cNvSpPr/>
          <p:nvPr/>
        </p:nvSpPr>
        <p:spPr>
          <a:xfrm>
            <a:off x="731520" y="3383280"/>
            <a:ext cx="7955280" cy="150876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13" name="Shape 9"/>
          <p:cNvSpPr/>
          <p:nvPr/>
        </p:nvSpPr>
        <p:spPr>
          <a:xfrm>
            <a:off x="731520" y="3383280"/>
            <a:ext cx="73152" cy="1508760"/>
          </a:xfrm>
          <a:prstGeom prst="rect">
            <a:avLst/>
          </a:prstGeom>
          <a:solidFill>
            <a:srgbClr val="0891B2"/>
          </a:solidFill>
          <a:ln/>
        </p:spPr>
        <p:txBody>
          <a:bodyPr/>
          <a:lstStyle/>
          <a:p>
            <a:endParaRPr lang="en-US"/>
          </a:p>
        </p:txBody>
      </p:sp>
      <p:sp>
        <p:nvSpPr>
          <p:cNvPr id="14" name="Text 10"/>
          <p:cNvSpPr/>
          <p:nvPr/>
        </p:nvSpPr>
        <p:spPr>
          <a:xfrm>
            <a:off x="1005840" y="3474720"/>
            <a:ext cx="7315200" cy="274320"/>
          </a:xfrm>
          <a:prstGeom prst="rect">
            <a:avLst/>
          </a:prstGeom>
          <a:noFill/>
          <a:ln/>
        </p:spPr>
        <p:txBody>
          <a:bodyPr wrap="square" lIns="0" tIns="0" rIns="0" bIns="0" rtlCol="0" anchor="ctr"/>
          <a:lstStyle/>
          <a:p>
            <a:pPr marL="0" indent="0">
              <a:buNone/>
            </a:pPr>
            <a:r>
              <a:rPr lang="en-US" sz="1300" b="1" dirty="0">
                <a:solidFill>
                  <a:srgbClr val="22D3EE"/>
                </a:solidFill>
                <a:latin typeface="Trebuchet MS" pitchFamily="34" charset="0"/>
                <a:ea typeface="Trebuchet MS" pitchFamily="34" charset="-122"/>
                <a:cs typeface="Trebuchet MS" pitchFamily="34" charset="-120"/>
              </a:rPr>
              <a:t>Projected Analysis: Why T4 Is Fundamentally Mismatched</a:t>
            </a:r>
            <a:endParaRPr lang="en-US" sz="1300" dirty="0"/>
          </a:p>
        </p:txBody>
      </p:sp>
      <p:sp>
        <p:nvSpPr>
          <p:cNvPr id="15" name="Text 11"/>
          <p:cNvSpPr/>
          <p:nvPr/>
        </p:nvSpPr>
        <p:spPr>
          <a:xfrm>
            <a:off x="1005840" y="3794760"/>
            <a:ext cx="7406640" cy="1005840"/>
          </a:xfrm>
          <a:prstGeom prst="rect">
            <a:avLst/>
          </a:prstGeom>
          <a:noFill/>
          <a:ln/>
        </p:spPr>
        <p:txBody>
          <a:bodyPr wrap="square" lIns="0" tIns="0" rIns="0" bIns="0" rtlCol="0" anchor="ctr"/>
          <a:lstStyle/>
          <a:p>
            <a:pPr marL="0" indent="0">
              <a:spcAft>
                <a:spcPts val="200"/>
              </a:spcAft>
              <a:buNone/>
            </a:pPr>
            <a:r>
              <a:rPr lang="en-US" sz="1100" dirty="0">
                <a:solidFill>
                  <a:srgbClr val="CADCFC"/>
                </a:solidFill>
                <a:latin typeface="Calibri" pitchFamily="34" charset="0"/>
                <a:ea typeface="Calibri" pitchFamily="34" charset="-122"/>
                <a:cs typeface="Calibri" pitchFamily="34" charset="-120"/>
              </a:rPr>
              <a:t>T4 compute-to-bandwidth ratio: ~217 (65 TFLOPS / 300 GB/s)</a:t>
            </a:r>
            <a:endParaRPr lang="en-US" sz="1100" dirty="0"/>
          </a:p>
          <a:p>
            <a:pPr marL="0" indent="0">
              <a:spcAft>
                <a:spcPts val="200"/>
              </a:spcAft>
              <a:buNone/>
            </a:pPr>
            <a:r>
              <a:rPr lang="en-US" sz="1100" dirty="0">
                <a:solidFill>
                  <a:srgbClr val="CADCFC"/>
                </a:solidFill>
                <a:latin typeface="Calibri" pitchFamily="34" charset="0"/>
                <a:ea typeface="Calibri" pitchFamily="34" charset="-122"/>
                <a:cs typeface="Calibri" pitchFamily="34" charset="-120"/>
              </a:rPr>
              <a:t>A100 compute-to-bandwidth ratio: ~156 (312 TFLOPS / 2 TB/s)</a:t>
            </a:r>
            <a:endParaRPr lang="en-US" sz="1100" dirty="0"/>
          </a:p>
          <a:p>
            <a:pPr marL="0" indent="0">
              <a:spcAft>
                <a:spcPts val="200"/>
              </a:spcAft>
              <a:buNone/>
            </a:pPr>
            <a:r>
              <a:rPr lang="en-US" sz="1100" dirty="0">
                <a:solidFill>
                  <a:srgbClr val="CADCFC"/>
                </a:solidFill>
                <a:latin typeface="Calibri" pitchFamily="34" charset="0"/>
                <a:ea typeface="Calibri" pitchFamily="34" charset="-122"/>
                <a:cs typeface="Calibri" pitchFamily="34" charset="-120"/>
              </a:rPr>
              <a:t>Sequoia’s theory: higher ratio → larger optimal trees needed</a:t>
            </a:r>
            <a:endParaRPr lang="en-US" sz="1100" dirty="0"/>
          </a:p>
          <a:p>
            <a:pPr marL="0" indent="0">
              <a:spcAft>
                <a:spcPts val="200"/>
              </a:spcAft>
              <a:buNone/>
            </a:pPr>
            <a:r>
              <a:rPr lang="en-US" sz="1100" b="1" dirty="0">
                <a:solidFill>
                  <a:srgbClr val="F59E0B"/>
                </a:solidFill>
                <a:latin typeface="Calibri" pitchFamily="34" charset="0"/>
                <a:ea typeface="Calibri" pitchFamily="34" charset="-122"/>
                <a:cs typeface="Calibri" pitchFamily="34" charset="-120"/>
              </a:rPr>
              <a:t>But T4 has only 16 GB VRAM → cannot support large trees alongside the target model</a:t>
            </a:r>
            <a:endParaRPr lang="en-US" sz="1100" dirty="0"/>
          </a:p>
          <a:p>
            <a:pPr marL="0" indent="0">
              <a:spcAft>
                <a:spcPts val="200"/>
              </a:spcAft>
              <a:buNone/>
            </a:pPr>
            <a:r>
              <a:rPr lang="en-US" sz="1100" i="1" dirty="0">
                <a:solidFill>
                  <a:srgbClr val="22D3EE"/>
                </a:solidFill>
                <a:latin typeface="Calibri" pitchFamily="34" charset="0"/>
                <a:ea typeface="Calibri" pitchFamily="34" charset="-122"/>
                <a:cs typeface="Calibri" pitchFamily="34" charset="-120"/>
              </a:rPr>
              <a:t>Catch-22: the hardware wants large trees but can’t fit them. This is a fundamental deployment mismatch for bandwidth-bound GPUs.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74320"/>
            <a:ext cx="8229600" cy="502920"/>
          </a:xfrm>
          <a:prstGeom prst="rect">
            <a:avLst/>
          </a:prstGeom>
          <a:noFill/>
          <a:ln/>
        </p:spPr>
        <p:txBody>
          <a:bodyPr wrap="square" lIns="0" tIns="0" rIns="0" bIns="0" rtlCol="0" anchor="ctr"/>
          <a:lstStyle/>
          <a:p>
            <a:pPr marL="0" indent="0">
              <a:buNone/>
            </a:pPr>
            <a:r>
              <a:rPr lang="en-US" sz="2800" b="1" dirty="0">
                <a:solidFill>
                  <a:srgbClr val="1E293B"/>
                </a:solidFill>
                <a:latin typeface="Trebuchet MS" pitchFamily="34" charset="0"/>
                <a:ea typeface="Trebuchet MS" pitchFamily="34" charset="-122"/>
                <a:cs typeface="Trebuchet MS" pitchFamily="34" charset="-120"/>
              </a:rPr>
              <a:t>Practitioner’s Decision Framework</a:t>
            </a:r>
            <a:endParaRPr lang="en-US" sz="2800" dirty="0"/>
          </a:p>
        </p:txBody>
      </p:sp>
      <p:sp>
        <p:nvSpPr>
          <p:cNvPr id="4" name="Text 2"/>
          <p:cNvSpPr/>
          <p:nvPr/>
        </p:nvSpPr>
        <p:spPr>
          <a:xfrm>
            <a:off x="731520" y="777240"/>
            <a:ext cx="7315200" cy="228600"/>
          </a:xfrm>
          <a:prstGeom prst="rect">
            <a:avLst/>
          </a:prstGeom>
          <a:noFill/>
          <a:ln/>
        </p:spPr>
        <p:txBody>
          <a:bodyPr wrap="square" lIns="0" tIns="0" rIns="0" bIns="0" rtlCol="0" anchor="ctr"/>
          <a:lstStyle/>
          <a:p>
            <a:pPr marL="0" indent="0">
              <a:buNone/>
            </a:pPr>
            <a:r>
              <a:rPr lang="en-US" sz="1300" i="1" dirty="0">
                <a:solidFill>
                  <a:srgbClr val="94A3B8"/>
                </a:solidFill>
                <a:latin typeface="Calibri" pitchFamily="34" charset="0"/>
                <a:ea typeface="Calibri" pitchFamily="34" charset="-122"/>
                <a:cs typeface="Calibri" pitchFamily="34" charset="-120"/>
              </a:rPr>
              <a:t>When should you use which method?</a:t>
            </a:r>
            <a:endParaRPr lang="en-US" sz="1300" dirty="0"/>
          </a:p>
        </p:txBody>
      </p:sp>
      <p:sp>
        <p:nvSpPr>
          <p:cNvPr id="5" name="Shape 3"/>
          <p:cNvSpPr/>
          <p:nvPr/>
        </p:nvSpPr>
        <p:spPr>
          <a:xfrm>
            <a:off x="731520" y="1188720"/>
            <a:ext cx="2468880" cy="320040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6" name="Shape 4"/>
          <p:cNvSpPr/>
          <p:nvPr/>
        </p:nvSpPr>
        <p:spPr>
          <a:xfrm>
            <a:off x="731520" y="1188720"/>
            <a:ext cx="2468880" cy="54864"/>
          </a:xfrm>
          <a:prstGeom prst="rect">
            <a:avLst/>
          </a:prstGeom>
          <a:solidFill>
            <a:srgbClr val="10B981"/>
          </a:solidFill>
          <a:ln/>
        </p:spPr>
        <p:txBody>
          <a:bodyPr/>
          <a:lstStyle/>
          <a:p>
            <a:endParaRPr lang="en-US"/>
          </a:p>
        </p:txBody>
      </p:sp>
      <p:sp>
        <p:nvSpPr>
          <p:cNvPr id="7" name="Text 5"/>
          <p:cNvSpPr/>
          <p:nvPr/>
        </p:nvSpPr>
        <p:spPr>
          <a:xfrm>
            <a:off x="868680" y="1371600"/>
            <a:ext cx="2194560" cy="274320"/>
          </a:xfrm>
          <a:prstGeom prst="rect">
            <a:avLst/>
          </a:prstGeom>
          <a:noFill/>
          <a:ln/>
        </p:spPr>
        <p:txBody>
          <a:bodyPr wrap="square" lIns="0" tIns="0" rIns="0" bIns="0" rtlCol="0" anchor="ctr"/>
          <a:lstStyle/>
          <a:p>
            <a:pPr marL="0" indent="0">
              <a:buNone/>
            </a:pPr>
            <a:r>
              <a:rPr lang="en-US" sz="1200" b="1" dirty="0">
                <a:solidFill>
                  <a:srgbClr val="10B981"/>
                </a:solidFill>
                <a:latin typeface="Trebuchet MS" pitchFamily="34" charset="0"/>
                <a:ea typeface="Trebuchet MS" pitchFamily="34" charset="-122"/>
                <a:cs typeface="Trebuchet MS" pitchFamily="34" charset="-120"/>
              </a:rPr>
              <a:t>Try First: Prompt Lookup</a:t>
            </a:r>
            <a:endParaRPr lang="en-US" sz="1200" dirty="0"/>
          </a:p>
        </p:txBody>
      </p:sp>
      <p:sp>
        <p:nvSpPr>
          <p:cNvPr id="8" name="Text 6"/>
          <p:cNvSpPr/>
          <p:nvPr/>
        </p:nvSpPr>
        <p:spPr>
          <a:xfrm>
            <a:off x="868680" y="1783080"/>
            <a:ext cx="2194560" cy="23774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Zero cost to try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No extra GPU memory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Best for: summarization, RAG, code completion, input-grounded tasks</a:t>
            </a:r>
            <a:endParaRPr lang="en-US" sz="1100" dirty="0"/>
          </a:p>
          <a:p>
            <a:pPr marL="342900" indent="-342900">
              <a:spcAft>
                <a:spcPts val="600"/>
              </a:spcAft>
              <a:buSzPct val="100000"/>
              <a:buChar char="•"/>
            </a:pPr>
            <a:r>
              <a:rPr lang="en-US" sz="1100" dirty="0">
                <a:solidFill>
                  <a:srgbClr val="94A3B8"/>
                </a:solidFill>
                <a:latin typeface="Calibri" pitchFamily="34" charset="0"/>
                <a:ea typeface="Calibri" pitchFamily="34" charset="-122"/>
                <a:cs typeface="Calibri" pitchFamily="34" charset="-120"/>
              </a:rPr>
              <a:t>Skip if: open-ended creative generation</a:t>
            </a:r>
            <a:endParaRPr lang="en-US" sz="1100" dirty="0"/>
          </a:p>
        </p:txBody>
      </p:sp>
      <p:sp>
        <p:nvSpPr>
          <p:cNvPr id="9" name="Shape 7"/>
          <p:cNvSpPr/>
          <p:nvPr/>
        </p:nvSpPr>
        <p:spPr>
          <a:xfrm>
            <a:off x="3474720" y="1188720"/>
            <a:ext cx="2468880" cy="320040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10" name="Shape 8"/>
          <p:cNvSpPr/>
          <p:nvPr/>
        </p:nvSpPr>
        <p:spPr>
          <a:xfrm>
            <a:off x="3474720" y="1188720"/>
            <a:ext cx="2468880" cy="54864"/>
          </a:xfrm>
          <a:prstGeom prst="rect">
            <a:avLst/>
          </a:prstGeom>
          <a:solidFill>
            <a:srgbClr val="0891B2"/>
          </a:solidFill>
          <a:ln/>
        </p:spPr>
        <p:txBody>
          <a:bodyPr/>
          <a:lstStyle/>
          <a:p>
            <a:endParaRPr lang="en-US"/>
          </a:p>
        </p:txBody>
      </p:sp>
      <p:sp>
        <p:nvSpPr>
          <p:cNvPr id="11" name="Text 9"/>
          <p:cNvSpPr/>
          <p:nvPr/>
        </p:nvSpPr>
        <p:spPr>
          <a:xfrm>
            <a:off x="3611880" y="1371600"/>
            <a:ext cx="2194560" cy="274320"/>
          </a:xfrm>
          <a:prstGeom prst="rect">
            <a:avLst/>
          </a:prstGeom>
          <a:noFill/>
          <a:ln/>
        </p:spPr>
        <p:txBody>
          <a:bodyPr wrap="square" lIns="0" tIns="0" rIns="0" bIns="0" rtlCol="0" anchor="ctr"/>
          <a:lstStyle/>
          <a:p>
            <a:pPr marL="0" indent="0">
              <a:buNone/>
            </a:pPr>
            <a:r>
              <a:rPr lang="en-US" sz="1200" b="1" dirty="0">
                <a:solidFill>
                  <a:srgbClr val="0891B2"/>
                </a:solidFill>
                <a:latin typeface="Trebuchet MS" pitchFamily="34" charset="0"/>
                <a:ea typeface="Trebuchet MS" pitchFamily="34" charset="-122"/>
                <a:cs typeface="Trebuchet MS" pitchFamily="34" charset="-120"/>
              </a:rPr>
              <a:t>Linear SD: Check Cost Ratio</a:t>
            </a:r>
            <a:endParaRPr lang="en-US" sz="1200" dirty="0"/>
          </a:p>
        </p:txBody>
      </p:sp>
      <p:sp>
        <p:nvSpPr>
          <p:cNvPr id="12" name="Text 10"/>
          <p:cNvSpPr/>
          <p:nvPr/>
        </p:nvSpPr>
        <p:spPr>
          <a:xfrm>
            <a:off x="3611880" y="1783080"/>
            <a:ext cx="2194560" cy="23774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Requires Cd/Ct &lt; 0.2 for real gains</a:t>
            </a:r>
            <a:endParaRPr lang="en-US" sz="1100" dirty="0"/>
          </a:p>
          <a:p>
            <a:pPr marL="342900" indent="-342900">
              <a:spcAft>
                <a:spcPts val="600"/>
              </a:spcAft>
              <a:buSzPct val="100000"/>
              <a:buChar char="•"/>
            </a:pPr>
            <a:r>
              <a:rPr lang="en-US" sz="1100" b="1" dirty="0">
                <a:solidFill>
                  <a:srgbClr val="1E293B"/>
                </a:solidFill>
                <a:latin typeface="Calibri" pitchFamily="34" charset="0"/>
                <a:ea typeface="Calibri" pitchFamily="34" charset="-122"/>
                <a:cs typeface="Calibri" pitchFamily="34" charset="-120"/>
              </a:rPr>
              <a:t>Measure cost ratio, don’t assume from param count</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Best for: greedy decoding, code tasks</a:t>
            </a:r>
            <a:endParaRPr lang="en-US" sz="1100" dirty="0"/>
          </a:p>
          <a:p>
            <a:pPr marL="342900" indent="-342900">
              <a:spcAft>
                <a:spcPts val="600"/>
              </a:spcAft>
              <a:buSzPct val="100000"/>
              <a:buChar char="•"/>
            </a:pPr>
            <a:r>
              <a:rPr lang="en-US" sz="1100" dirty="0">
                <a:solidFill>
                  <a:srgbClr val="EF4444"/>
                </a:solidFill>
                <a:latin typeface="Calibri" pitchFamily="34" charset="0"/>
                <a:ea typeface="Calibri" pitchFamily="34" charset="-122"/>
                <a:cs typeface="Calibri" pitchFamily="34" charset="-120"/>
              </a:rPr>
              <a:t>Caution: quantization changes the math</a:t>
            </a:r>
            <a:endParaRPr lang="en-US" sz="1100" dirty="0"/>
          </a:p>
        </p:txBody>
      </p:sp>
      <p:sp>
        <p:nvSpPr>
          <p:cNvPr id="13" name="Shape 11"/>
          <p:cNvSpPr/>
          <p:nvPr/>
        </p:nvSpPr>
        <p:spPr>
          <a:xfrm>
            <a:off x="6217920" y="1188720"/>
            <a:ext cx="2468880" cy="3200400"/>
          </a:xfrm>
          <a:prstGeom prst="rect">
            <a:avLst/>
          </a:prstGeom>
          <a:solidFill>
            <a:srgbClr val="FFFFFF"/>
          </a:solidFill>
          <a:ln/>
          <a:effectLst>
            <a:outerShdw blurRad="50800" dist="25400" dir="8100000" algn="bl" rotWithShape="0">
              <a:srgbClr val="000000">
                <a:alpha val="20000"/>
              </a:srgbClr>
            </a:outerShdw>
          </a:effectLst>
        </p:spPr>
        <p:txBody>
          <a:bodyPr/>
          <a:lstStyle/>
          <a:p>
            <a:endParaRPr lang="en-US"/>
          </a:p>
        </p:txBody>
      </p:sp>
      <p:sp>
        <p:nvSpPr>
          <p:cNvPr id="14" name="Shape 12"/>
          <p:cNvSpPr/>
          <p:nvPr/>
        </p:nvSpPr>
        <p:spPr>
          <a:xfrm>
            <a:off x="6217920" y="1188720"/>
            <a:ext cx="2468880" cy="54864"/>
          </a:xfrm>
          <a:prstGeom prst="rect">
            <a:avLst/>
          </a:prstGeom>
          <a:solidFill>
            <a:srgbClr val="F59E0B"/>
          </a:solidFill>
          <a:ln/>
        </p:spPr>
        <p:txBody>
          <a:bodyPr/>
          <a:lstStyle/>
          <a:p>
            <a:endParaRPr lang="en-US"/>
          </a:p>
        </p:txBody>
      </p:sp>
      <p:sp>
        <p:nvSpPr>
          <p:cNvPr id="15" name="Text 13"/>
          <p:cNvSpPr/>
          <p:nvPr/>
        </p:nvSpPr>
        <p:spPr>
          <a:xfrm>
            <a:off x="6355080" y="1371600"/>
            <a:ext cx="2194560" cy="274320"/>
          </a:xfrm>
          <a:prstGeom prst="rect">
            <a:avLst/>
          </a:prstGeom>
          <a:noFill/>
          <a:ln/>
        </p:spPr>
        <p:txBody>
          <a:bodyPr wrap="square" lIns="0" tIns="0" rIns="0" bIns="0" rtlCol="0" anchor="ctr"/>
          <a:lstStyle/>
          <a:p>
            <a:pPr marL="0" indent="0">
              <a:buNone/>
            </a:pPr>
            <a:r>
              <a:rPr lang="en-US" sz="1200" b="1" dirty="0">
                <a:solidFill>
                  <a:srgbClr val="F59E0B"/>
                </a:solidFill>
                <a:latin typeface="Trebuchet MS" pitchFamily="34" charset="0"/>
                <a:ea typeface="Trebuchet MS" pitchFamily="34" charset="-122"/>
                <a:cs typeface="Trebuchet MS" pitchFamily="34" charset="-120"/>
              </a:rPr>
              <a:t>Tree: High-End Hardware</a:t>
            </a:r>
            <a:endParaRPr lang="en-US" sz="1200" dirty="0"/>
          </a:p>
        </p:txBody>
      </p:sp>
      <p:sp>
        <p:nvSpPr>
          <p:cNvPr id="16" name="Text 14"/>
          <p:cNvSpPr/>
          <p:nvPr/>
        </p:nvSpPr>
        <p:spPr>
          <a:xfrm>
            <a:off x="6355080" y="1783080"/>
            <a:ext cx="2194560" cy="2377440"/>
          </a:xfrm>
          <a:prstGeom prst="rect">
            <a:avLst/>
          </a:prstGeom>
          <a:noFill/>
          <a:ln/>
        </p:spPr>
        <p:txBody>
          <a:bodyPr wrap="square" lIns="0" tIns="0" rIns="0" bIns="0" rtlCol="0" anchor="ctr"/>
          <a:lstStyle/>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Needs HW-specific tree topology</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Best on A100/H100 (large tree budgets)</a:t>
            </a:r>
            <a:endParaRPr lang="en-US" sz="1100" dirty="0"/>
          </a:p>
          <a:p>
            <a:pPr marL="342900" indent="-342900">
              <a:spcAft>
                <a:spcPts val="600"/>
              </a:spcAft>
              <a:buSzPct val="100000"/>
              <a:buChar char="•"/>
            </a:pPr>
            <a:r>
              <a:rPr lang="en-US" sz="1100" dirty="0">
                <a:solidFill>
                  <a:srgbClr val="1E293B"/>
                </a:solidFill>
                <a:latin typeface="Calibri" pitchFamily="34" charset="0"/>
                <a:ea typeface="Calibri" pitchFamily="34" charset="-122"/>
                <a:cs typeface="Calibri" pitchFamily="34" charset="-120"/>
              </a:rPr>
              <a:t>Temperature-robust (Sequoia)</a:t>
            </a:r>
            <a:endParaRPr lang="en-US" sz="1100" dirty="0"/>
          </a:p>
          <a:p>
            <a:pPr marL="342900" indent="-342900">
              <a:spcAft>
                <a:spcPts val="600"/>
              </a:spcAft>
              <a:buSzPct val="100000"/>
              <a:buChar char="•"/>
            </a:pPr>
            <a:r>
              <a:rPr lang="en-US" sz="1100" dirty="0">
                <a:solidFill>
                  <a:srgbClr val="EF4444"/>
                </a:solidFill>
                <a:latin typeface="Calibri" pitchFamily="34" charset="0"/>
                <a:ea typeface="Calibri" pitchFamily="34" charset="-122"/>
                <a:cs typeface="Calibri" pitchFamily="34" charset="-120"/>
              </a:rPr>
              <a:t>Deployment complexity is non-trivial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9"/>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a:p>
        </p:txBody>
      </p:sp>
      <p:sp>
        <p:nvSpPr>
          <p:cNvPr id="3" name="Text 1"/>
          <p:cNvSpPr/>
          <p:nvPr/>
        </p:nvSpPr>
        <p:spPr>
          <a:xfrm>
            <a:off x="731520" y="228600"/>
            <a:ext cx="822960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Conclusions &amp; Contributions</a:t>
            </a:r>
            <a:endParaRPr lang="en-US" sz="3000" dirty="0"/>
          </a:p>
        </p:txBody>
      </p:sp>
      <p:pic>
        <p:nvPicPr>
          <p:cNvPr id="4" name="Image 0" descr="preencoded.png"/>
          <p:cNvPicPr>
            <a:picLocks noChangeAspect="1"/>
          </p:cNvPicPr>
          <p:nvPr/>
        </p:nvPicPr>
        <p:blipFill>
          <a:blip r:embed="rId3"/>
          <a:stretch>
            <a:fillRect/>
          </a:stretch>
        </p:blipFill>
        <p:spPr>
          <a:xfrm>
            <a:off x="731520" y="960120"/>
            <a:ext cx="292608" cy="292608"/>
          </a:xfrm>
          <a:prstGeom prst="rect">
            <a:avLst/>
          </a:prstGeom>
        </p:spPr>
      </p:pic>
      <p:sp>
        <p:nvSpPr>
          <p:cNvPr id="5" name="Text 2"/>
          <p:cNvSpPr/>
          <p:nvPr/>
        </p:nvSpPr>
        <p:spPr>
          <a:xfrm>
            <a:off x="1143000" y="960120"/>
            <a:ext cx="2011680" cy="292608"/>
          </a:xfrm>
          <a:prstGeom prst="rect">
            <a:avLst/>
          </a:prstGeom>
          <a:noFill/>
          <a:ln/>
        </p:spPr>
        <p:txBody>
          <a:bodyPr wrap="square" lIns="0" tIns="0" rIns="0" bIns="0" rtlCol="0" anchor="ctr"/>
          <a:lstStyle/>
          <a:p>
            <a:pPr marL="0" indent="0">
              <a:buNone/>
            </a:pPr>
            <a:r>
              <a:rPr lang="en-US" sz="1300" b="1" dirty="0">
                <a:solidFill>
                  <a:srgbClr val="22D3EE"/>
                </a:solidFill>
                <a:latin typeface="Trebuchet MS" pitchFamily="34" charset="0"/>
                <a:ea typeface="Trebuchet MS" pitchFamily="34" charset="-122"/>
                <a:cs typeface="Trebuchet MS" pitchFamily="34" charset="-120"/>
              </a:rPr>
              <a:t>Unified Framework</a:t>
            </a:r>
            <a:endParaRPr lang="en-US" sz="1300" dirty="0"/>
          </a:p>
        </p:txBody>
      </p:sp>
      <p:sp>
        <p:nvSpPr>
          <p:cNvPr id="6" name="Text 3"/>
          <p:cNvSpPr/>
          <p:nvPr/>
        </p:nvSpPr>
        <p:spPr>
          <a:xfrm>
            <a:off x="3200400" y="960120"/>
            <a:ext cx="5486400" cy="4114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Common cost model (Eq. 1–4) exposing where each family spends system resources</a:t>
            </a:r>
            <a:endParaRPr lang="en-US" sz="1200" dirty="0"/>
          </a:p>
        </p:txBody>
      </p:sp>
      <p:pic>
        <p:nvPicPr>
          <p:cNvPr id="7" name="Image 1" descr="preencoded.png"/>
          <p:cNvPicPr>
            <a:picLocks noChangeAspect="1"/>
          </p:cNvPicPr>
          <p:nvPr/>
        </p:nvPicPr>
        <p:blipFill>
          <a:blip r:embed="rId4"/>
          <a:stretch>
            <a:fillRect/>
          </a:stretch>
        </p:blipFill>
        <p:spPr>
          <a:xfrm>
            <a:off x="731520" y="1618488"/>
            <a:ext cx="292608" cy="292608"/>
          </a:xfrm>
          <a:prstGeom prst="rect">
            <a:avLst/>
          </a:prstGeom>
        </p:spPr>
      </p:pic>
      <p:sp>
        <p:nvSpPr>
          <p:cNvPr id="8" name="Text 4"/>
          <p:cNvSpPr/>
          <p:nvPr/>
        </p:nvSpPr>
        <p:spPr>
          <a:xfrm>
            <a:off x="1143000" y="1618488"/>
            <a:ext cx="2011680" cy="292608"/>
          </a:xfrm>
          <a:prstGeom prst="rect">
            <a:avLst/>
          </a:prstGeom>
          <a:noFill/>
          <a:ln/>
        </p:spPr>
        <p:txBody>
          <a:bodyPr wrap="square" lIns="0" tIns="0" rIns="0" bIns="0" rtlCol="0" anchor="ctr"/>
          <a:lstStyle/>
          <a:p>
            <a:pPr marL="0" indent="0">
              <a:buNone/>
            </a:pPr>
            <a:r>
              <a:rPr lang="en-US" sz="1300" b="1" dirty="0">
                <a:solidFill>
                  <a:srgbClr val="22D3EE"/>
                </a:solidFill>
                <a:latin typeface="Trebuchet MS" pitchFamily="34" charset="0"/>
                <a:ea typeface="Trebuchet MS" pitchFamily="34" charset="-122"/>
                <a:cs typeface="Trebuchet MS" pitchFamily="34" charset="-120"/>
              </a:rPr>
              <a:t>Empirical Validation</a:t>
            </a:r>
            <a:endParaRPr lang="en-US" sz="1300" dirty="0"/>
          </a:p>
        </p:txBody>
      </p:sp>
      <p:sp>
        <p:nvSpPr>
          <p:cNvPr id="9" name="Text 5"/>
          <p:cNvSpPr/>
          <p:nvPr/>
        </p:nvSpPr>
        <p:spPr>
          <a:xfrm>
            <a:off x="3200400" y="1618488"/>
            <a:ext cx="5486400" cy="4114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Controlled cross-family comparison on T4 with 30-trial statistical rigor</a:t>
            </a:r>
            <a:endParaRPr lang="en-US" sz="1200" dirty="0"/>
          </a:p>
        </p:txBody>
      </p:sp>
      <p:pic>
        <p:nvPicPr>
          <p:cNvPr id="10" name="Image 2" descr="preencoded.png"/>
          <p:cNvPicPr>
            <a:picLocks noChangeAspect="1"/>
          </p:cNvPicPr>
          <p:nvPr/>
        </p:nvPicPr>
        <p:blipFill>
          <a:blip r:embed="rId5"/>
          <a:stretch>
            <a:fillRect/>
          </a:stretch>
        </p:blipFill>
        <p:spPr>
          <a:xfrm>
            <a:off x="731520" y="2276856"/>
            <a:ext cx="292608" cy="292608"/>
          </a:xfrm>
          <a:prstGeom prst="rect">
            <a:avLst/>
          </a:prstGeom>
        </p:spPr>
      </p:pic>
      <p:sp>
        <p:nvSpPr>
          <p:cNvPr id="11" name="Text 6"/>
          <p:cNvSpPr/>
          <p:nvPr/>
        </p:nvSpPr>
        <p:spPr>
          <a:xfrm>
            <a:off x="1143000" y="2276856"/>
            <a:ext cx="2011680" cy="292608"/>
          </a:xfrm>
          <a:prstGeom prst="rect">
            <a:avLst/>
          </a:prstGeom>
          <a:noFill/>
          <a:ln/>
        </p:spPr>
        <p:txBody>
          <a:bodyPr wrap="square" lIns="0" tIns="0" rIns="0" bIns="0" rtlCol="0" anchor="ctr"/>
          <a:lstStyle/>
          <a:p>
            <a:pPr marL="0" indent="0">
              <a:buNone/>
            </a:pPr>
            <a:r>
              <a:rPr lang="en-US" sz="1300" b="1" dirty="0">
                <a:solidFill>
                  <a:srgbClr val="22D3EE"/>
                </a:solidFill>
                <a:latin typeface="Trebuchet MS" pitchFamily="34" charset="0"/>
                <a:ea typeface="Trebuchet MS" pitchFamily="34" charset="-122"/>
                <a:cs typeface="Trebuchet MS" pitchFamily="34" charset="-120"/>
              </a:rPr>
              <a:t>Novel Findings</a:t>
            </a:r>
            <a:endParaRPr lang="en-US" sz="1300" dirty="0"/>
          </a:p>
        </p:txBody>
      </p:sp>
      <p:sp>
        <p:nvSpPr>
          <p:cNvPr id="12" name="Text 7"/>
          <p:cNvSpPr/>
          <p:nvPr/>
        </p:nvSpPr>
        <p:spPr>
          <a:xfrm>
            <a:off x="3200400" y="2276856"/>
            <a:ext cx="5486400" cy="4114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Cd/Ct ≠ param ratio on BW-bound HW; quantization trap; +0.2× framework effect</a:t>
            </a:r>
            <a:endParaRPr lang="en-US" sz="1200" dirty="0"/>
          </a:p>
        </p:txBody>
      </p:sp>
      <p:pic>
        <p:nvPicPr>
          <p:cNvPr id="13" name="Image 3" descr="preencoded.png"/>
          <p:cNvPicPr>
            <a:picLocks noChangeAspect="1"/>
          </p:cNvPicPr>
          <p:nvPr/>
        </p:nvPicPr>
        <p:blipFill>
          <a:blip r:embed="rId6"/>
          <a:stretch>
            <a:fillRect/>
          </a:stretch>
        </p:blipFill>
        <p:spPr>
          <a:xfrm>
            <a:off x="731520" y="2935224"/>
            <a:ext cx="292608" cy="292608"/>
          </a:xfrm>
          <a:prstGeom prst="rect">
            <a:avLst/>
          </a:prstGeom>
        </p:spPr>
      </p:pic>
      <p:sp>
        <p:nvSpPr>
          <p:cNvPr id="14" name="Text 8"/>
          <p:cNvSpPr/>
          <p:nvPr/>
        </p:nvSpPr>
        <p:spPr>
          <a:xfrm>
            <a:off x="1143000" y="2935224"/>
            <a:ext cx="2011680" cy="292608"/>
          </a:xfrm>
          <a:prstGeom prst="rect">
            <a:avLst/>
          </a:prstGeom>
          <a:noFill/>
          <a:ln/>
        </p:spPr>
        <p:txBody>
          <a:bodyPr wrap="square" lIns="0" tIns="0" rIns="0" bIns="0" rtlCol="0" anchor="ctr"/>
          <a:lstStyle/>
          <a:p>
            <a:pPr marL="0" indent="0">
              <a:buNone/>
            </a:pPr>
            <a:r>
              <a:rPr lang="en-US" sz="1300" b="1" dirty="0">
                <a:solidFill>
                  <a:srgbClr val="22D3EE"/>
                </a:solidFill>
                <a:latin typeface="Trebuchet MS" pitchFamily="34" charset="0"/>
                <a:ea typeface="Trebuchet MS" pitchFamily="34" charset="-122"/>
                <a:cs typeface="Trebuchet MS" pitchFamily="34" charset="-120"/>
              </a:rPr>
              <a:t>Profiler Attribution</a:t>
            </a:r>
            <a:endParaRPr lang="en-US" sz="1300" dirty="0"/>
          </a:p>
        </p:txBody>
      </p:sp>
      <p:sp>
        <p:nvSpPr>
          <p:cNvPr id="15" name="Text 9"/>
          <p:cNvSpPr/>
          <p:nvPr/>
        </p:nvSpPr>
        <p:spPr>
          <a:xfrm>
            <a:off x="3200400" y="2935224"/>
            <a:ext cx="5486400" cy="4114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Csys is negligible (~0.1 ms); PLD’s zero GPU overhead confirmed; matmul dominates ~80%</a:t>
            </a:r>
            <a:endParaRPr lang="en-US" sz="1200" dirty="0"/>
          </a:p>
        </p:txBody>
      </p:sp>
      <p:pic>
        <p:nvPicPr>
          <p:cNvPr id="16" name="Image 4" descr="preencoded.png"/>
          <p:cNvPicPr>
            <a:picLocks noChangeAspect="1"/>
          </p:cNvPicPr>
          <p:nvPr/>
        </p:nvPicPr>
        <p:blipFill>
          <a:blip r:embed="rId7"/>
          <a:stretch>
            <a:fillRect/>
          </a:stretch>
        </p:blipFill>
        <p:spPr>
          <a:xfrm>
            <a:off x="731520" y="3593592"/>
            <a:ext cx="292608" cy="292608"/>
          </a:xfrm>
          <a:prstGeom prst="rect">
            <a:avLst/>
          </a:prstGeom>
        </p:spPr>
      </p:pic>
      <p:sp>
        <p:nvSpPr>
          <p:cNvPr id="17" name="Text 10"/>
          <p:cNvSpPr/>
          <p:nvPr/>
        </p:nvSpPr>
        <p:spPr>
          <a:xfrm>
            <a:off x="1143000" y="3593592"/>
            <a:ext cx="2011680" cy="292608"/>
          </a:xfrm>
          <a:prstGeom prst="rect">
            <a:avLst/>
          </a:prstGeom>
          <a:noFill/>
          <a:ln/>
        </p:spPr>
        <p:txBody>
          <a:bodyPr wrap="square" lIns="0" tIns="0" rIns="0" bIns="0" rtlCol="0" anchor="ctr"/>
          <a:lstStyle/>
          <a:p>
            <a:pPr marL="0" indent="0">
              <a:buNone/>
            </a:pPr>
            <a:r>
              <a:rPr lang="en-US" sz="1300" b="1" dirty="0">
                <a:solidFill>
                  <a:srgbClr val="22D3EE"/>
                </a:solidFill>
                <a:latin typeface="Trebuchet MS" pitchFamily="34" charset="0"/>
                <a:ea typeface="Trebuchet MS" pitchFamily="34" charset="-122"/>
                <a:cs typeface="Trebuchet MS" pitchFamily="34" charset="-120"/>
              </a:rPr>
              <a:t>Deployment Insight</a:t>
            </a:r>
            <a:endParaRPr lang="en-US" sz="1300" dirty="0"/>
          </a:p>
        </p:txBody>
      </p:sp>
      <p:sp>
        <p:nvSpPr>
          <p:cNvPr id="18" name="Text 11"/>
          <p:cNvSpPr/>
          <p:nvPr/>
        </p:nvSpPr>
        <p:spPr>
          <a:xfrm>
            <a:off x="3200400" y="3593592"/>
            <a:ext cx="5486400" cy="4114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Tree methods require HW-specific artifacts; linear &amp; PLD are framework-portable</a:t>
            </a:r>
            <a:endParaRPr lang="en-US" sz="1200" dirty="0"/>
          </a:p>
        </p:txBody>
      </p:sp>
      <p:sp>
        <p:nvSpPr>
          <p:cNvPr id="19" name="Shape 12"/>
          <p:cNvSpPr/>
          <p:nvPr/>
        </p:nvSpPr>
        <p:spPr>
          <a:xfrm>
            <a:off x="731520" y="4297680"/>
            <a:ext cx="7955280" cy="502920"/>
          </a:xfrm>
          <a:prstGeom prst="rect">
            <a:avLst/>
          </a:prstGeom>
          <a:solidFill>
            <a:srgbClr val="1A2744"/>
          </a:solidFill>
          <a:ln/>
          <a:effectLst>
            <a:outerShdw blurRad="50800" dist="25400" dir="8100000" algn="bl" rotWithShape="0">
              <a:srgbClr val="000000">
                <a:alpha val="20000"/>
              </a:srgbClr>
            </a:outerShdw>
          </a:effectLst>
        </p:spPr>
        <p:txBody>
          <a:bodyPr/>
          <a:lstStyle/>
          <a:p>
            <a:endParaRPr lang="en-US"/>
          </a:p>
        </p:txBody>
      </p:sp>
      <p:sp>
        <p:nvSpPr>
          <p:cNvPr id="20" name="Shape 13"/>
          <p:cNvSpPr/>
          <p:nvPr/>
        </p:nvSpPr>
        <p:spPr>
          <a:xfrm>
            <a:off x="731520" y="4297680"/>
            <a:ext cx="73152" cy="502920"/>
          </a:xfrm>
          <a:prstGeom prst="rect">
            <a:avLst/>
          </a:prstGeom>
          <a:solidFill>
            <a:srgbClr val="F59E0B"/>
          </a:solidFill>
          <a:ln/>
        </p:spPr>
        <p:txBody>
          <a:bodyPr/>
          <a:lstStyle/>
          <a:p>
            <a:endParaRPr lang="en-US"/>
          </a:p>
        </p:txBody>
      </p:sp>
      <p:sp>
        <p:nvSpPr>
          <p:cNvPr id="21" name="Text 14"/>
          <p:cNvSpPr/>
          <p:nvPr/>
        </p:nvSpPr>
        <p:spPr>
          <a:xfrm>
            <a:off x="1005840" y="4315968"/>
            <a:ext cx="7406640" cy="457200"/>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One takeaway:  Measure your cost ratio.  Don’t trust parameter counts.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952</TotalTime>
  <Words>6690</Words>
  <Application>Microsoft Macintosh PowerPoint</Application>
  <PresentationFormat>On-screen Show (16:9)</PresentationFormat>
  <Paragraphs>433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Systems Study of Speculative Decoding for LLM Inference</dc:title>
  <dc:subject>PptxGenJS Presentation</dc:subject>
  <dc:creator>Zanwen Fu</dc:creator>
  <cp:lastModifiedBy>Zanwen Fu</cp:lastModifiedBy>
  <cp:revision>3</cp:revision>
  <dcterms:created xsi:type="dcterms:W3CDTF">2026-04-09T04:27:38Z</dcterms:created>
  <dcterms:modified xsi:type="dcterms:W3CDTF">2026-04-09T20:24:18Z</dcterms:modified>
</cp:coreProperties>
</file>